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caf8cd3c064543" /><Relationship Type="http://schemas.openxmlformats.org/officeDocument/2006/relationships/extended-properties" Target="/docProps/app.xml" Id="Rc176ba79bdac486b" /><Relationship Type="http://schemas.openxmlformats.org/officeDocument/2006/relationships/officeDocument" Target="/ppt/presentation.xml" Id="Ra3a4bd95bd2b4676" /></Relationships>
</file>

<file path=ppt/presentation.xml><?xml version="1.0" encoding="utf-8"?>
<p:presentation xmlns:p="http://schemas.openxmlformats.org/presentationml/2006/main">
  <p:sldMasterIdLst>
    <p:sldMasterId xmlns:r="http://schemas.openxmlformats.org/officeDocument/2006/relationships" id="2147483648" r:id="R6577cbd1200544a7"/>
  </p:sldMasterIdLst>
  <p:notesMasterIdLst>
    <p:notesMasterId xmlns:r="http://schemas.openxmlformats.org/officeDocument/2006/relationships" r:id="Rc910f821034846ea"/>
  </p:notesMasterIdLst>
  <p:sldIdLst>
    <p:sldId xmlns:r="http://schemas.openxmlformats.org/officeDocument/2006/relationships" id="256" r:id="R57620605f4634384"/>
    <p:sldId xmlns:r="http://schemas.openxmlformats.org/officeDocument/2006/relationships" id="257" r:id="R16336c58b6384a94"/>
    <p:sldId xmlns:r="http://schemas.openxmlformats.org/officeDocument/2006/relationships" id="258" r:id="R4377e855abe845e2"/>
    <p:sldId xmlns:r="http://schemas.openxmlformats.org/officeDocument/2006/relationships" id="259" r:id="R859cbcbc20554a97"/>
    <p:sldId xmlns:r="http://schemas.openxmlformats.org/officeDocument/2006/relationships" id="260" r:id="R377929c523474ec2"/>
    <p:sldId xmlns:r="http://schemas.openxmlformats.org/officeDocument/2006/relationships" id="261" r:id="R5e99fda1f6674404"/>
    <p:sldId xmlns:r="http://schemas.openxmlformats.org/officeDocument/2006/relationships" id="262" r:id="Rf24425cc84fd4544"/>
    <p:sldId xmlns:r="http://schemas.openxmlformats.org/officeDocument/2006/relationships" id="263" r:id="Rb0607377c8b24f7c"/>
    <p:sldId xmlns:r="http://schemas.openxmlformats.org/officeDocument/2006/relationships" id="264" r:id="R42b97ecc4dff4433"/>
    <p:sldId xmlns:r="http://schemas.openxmlformats.org/officeDocument/2006/relationships" id="265" r:id="R47cb3982145f4ed3"/>
    <p:sldId xmlns:r="http://schemas.openxmlformats.org/officeDocument/2006/relationships" id="266" r:id="R76e05dde00c94e7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873a70c4fe4c30" /><Relationship Type="http://schemas.openxmlformats.org/officeDocument/2006/relationships/slideMaster" Target="/ppt/slideMasters/slideMaster1.xml" Id="R6577cbd1200544a7" /><Relationship Type="http://schemas.openxmlformats.org/officeDocument/2006/relationships/notesMaster" Target="/ppt/notesMasters/notesMaster1.xml" Id="Rc910f821034846ea" /><Relationship Type="http://schemas.openxmlformats.org/officeDocument/2006/relationships/presProps" Target="/ppt/presProps.xml" Id="R4e894f0a1cbe4ca6" /><Relationship Type="http://schemas.openxmlformats.org/officeDocument/2006/relationships/tableStyles" Target="/ppt/tableStyles.xml" Id="Rd92234dac942444a" /><Relationship Type="http://schemas.openxmlformats.org/officeDocument/2006/relationships/slide" Target="/ppt/slides/slide1.xml" Id="R57620605f4634384" /><Relationship Type="http://schemas.openxmlformats.org/officeDocument/2006/relationships/slide" Target="/ppt/slides/slide2.xml" Id="R16336c58b6384a94" /><Relationship Type="http://schemas.openxmlformats.org/officeDocument/2006/relationships/slide" Target="/ppt/slides/slide3.xml" Id="R4377e855abe845e2" /><Relationship Type="http://schemas.openxmlformats.org/officeDocument/2006/relationships/slide" Target="/ppt/slides/slide4.xml" Id="R859cbcbc20554a97" /><Relationship Type="http://schemas.openxmlformats.org/officeDocument/2006/relationships/slide" Target="/ppt/slides/slide5.xml" Id="R377929c523474ec2" /><Relationship Type="http://schemas.openxmlformats.org/officeDocument/2006/relationships/slide" Target="/ppt/slides/slide6.xml" Id="R5e99fda1f6674404" /><Relationship Type="http://schemas.openxmlformats.org/officeDocument/2006/relationships/slide" Target="/ppt/slides/slide7.xml" Id="Rf24425cc84fd4544" /><Relationship Type="http://schemas.openxmlformats.org/officeDocument/2006/relationships/slide" Target="/ppt/slides/slide8.xml" Id="Rb0607377c8b24f7c" /><Relationship Type="http://schemas.openxmlformats.org/officeDocument/2006/relationships/slide" Target="/ppt/slides/slide9.xml" Id="R42b97ecc4dff4433" /><Relationship Type="http://schemas.openxmlformats.org/officeDocument/2006/relationships/slide" Target="/ppt/slides/slide10.xml" Id="R47cb3982145f4ed3" /><Relationship Type="http://schemas.openxmlformats.org/officeDocument/2006/relationships/slide" Target="/ppt/slides/slide11.xml" Id="R76e05dde00c94e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926db724604a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fe3f1cff294fc0" /><Relationship Type="http://schemas.openxmlformats.org/officeDocument/2006/relationships/notesMaster" Target="/ppt/notesMasters/notesMaster1.xml" Id="R414520e006834d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dfff66204b4961" /><Relationship Type="http://schemas.openxmlformats.org/officeDocument/2006/relationships/notesMaster" Target="/ppt/notesMasters/notesMaster1.xml" Id="Re16a619a07e743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41363387f04bf9" /><Relationship Type="http://schemas.openxmlformats.org/officeDocument/2006/relationships/notesMaster" Target="/ppt/notesMasters/notesMaster1.xml" Id="R6ce08b70b56648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49d42a3c9d4786" /><Relationship Type="http://schemas.openxmlformats.org/officeDocument/2006/relationships/notesMaster" Target="/ppt/notesMasters/notesMaster1.xml" Id="Rf8a9a9cfd9df45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de5e12ebe44416" /><Relationship Type="http://schemas.openxmlformats.org/officeDocument/2006/relationships/notesMaster" Target="/ppt/notesMasters/notesMaster1.xml" Id="R73c847a3e9f047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0948414110491a" /><Relationship Type="http://schemas.openxmlformats.org/officeDocument/2006/relationships/notesMaster" Target="/ppt/notesMasters/notesMaster1.xml" Id="R24880ea3fa664d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65515a786e4424" /><Relationship Type="http://schemas.openxmlformats.org/officeDocument/2006/relationships/notesMaster" Target="/ppt/notesMasters/notesMaster1.xml" Id="R7e51f11c34694e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6e41eff25444f9" /><Relationship Type="http://schemas.openxmlformats.org/officeDocument/2006/relationships/notesMaster" Target="/ppt/notesMasters/notesMaster1.xml" Id="Rba8813954ab749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18cd6c2d354582" /><Relationship Type="http://schemas.openxmlformats.org/officeDocument/2006/relationships/notesMaster" Target="/ppt/notesMasters/notesMaster1.xml" Id="R0d867e8e83a047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382a2564a14175" /><Relationship Type="http://schemas.openxmlformats.org/officeDocument/2006/relationships/notesMaster" Target="/ppt/notesMasters/notesMaster1.xml" Id="R8e4297cc760d4b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64c0b5ee5410a" /><Relationship Type="http://schemas.openxmlformats.org/officeDocument/2006/relationships/notesMaster" Target="/ppt/notesMasters/notesMaster1.xml" Id="R17aee7ea2b3241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that the demonstration will prove two agentic tasks end to end. For both tasks, show MCP tool names, sanitized arguments, outputs, citations, and the final answer or action. State that all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the browser to FastAPI, the agent orchestrator, and the MCP client/server. Emphasize that tool discovery and typed calls are visible, while hidden chain-of-thought is never shown. The LLM only summarizes verified evidence after the workflow completes.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International remote work demo for E-1007. Read the prompt and point to the final status: conditionally eligible. Explain that six calendar weeks is treated as about 30 business days and therefore international exceptional. Point out the required approvals and the clarification for exact dates. Name all four cited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each tool in order. Explain the output shown beside it: discovery returns eight tools; employee lookup finds E-1007; search returns eight ranked chunks; four exact-section calls each return one authoritative chunk; compliance returns conditionally_eligible and international_exceptional.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sanitized arguments. For lookup_employee_profile, show employee_id E-1007. For search_policy_documents, show the user question. For check_policy_compliance, show workflow international_remote_work, country DE, and 30 business days. Connect those arguments to the four exact retrieved citations and the conditional final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Logan Murphy, E-1021, then run the PTO task. Explain that check_pto_balance calculates three scheduled workdays and 24 hours. The returned balance is read only: 96 available, zero pending, and 72 projected. Name PTO-6 and PTO-7 and explain that sufficient balance is not manager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tools in order. Expand check_pto_balance to show employee_id E-1021 and the exact start and end dates. Explain that its result says the PTO record was found and the balance is sufficient. Then show search, the two exact section calls, and the final compliance output. State again that this path performs no mutation.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Generate draft email. Point to the structured draft: recipient Kendall Price, the exact date-range subject, and the body. Then point to the tool trace for draft_hr_email. Read the key output flags: sent=false and persisted=false. This is the final action for task two, and it remains reviewable and reversible.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health panel: MCP, RAG, synthetic data, and the provider are healthy. State the production version and release ac6bed0. Then show GitHub Actions: CI #39 passed for that commit and Hosted smoke #36 passed after deployment. Explain that the hosted smoke checks health, release identity, root UI, and a read-only MCP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first rows of the evaluation table. The 25-case gold suite reports 100 percent groundedness, answer accuracy, claim support, citation accuracy, retrieval recall, tool selection, workflow completion, clarification accuracy, and action safety. Both primary workflows also completed ten consecutive warm runs. Frame these as bounded synthetic evidence, not a production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proof: two end-to-end tasks, visible MCP operations, six exact citations, and zero real-world writes. The key design choice is that provider generation is not a correctness dependency; verified deterministic results remain available when the free provider is unavailable or rejected by the grounding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2e0347ca064d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9df5896c5c406d" /><Relationship Type="http://schemas.openxmlformats.org/officeDocument/2006/relationships/slideLayout" Target="/ppt/slideLayouts/slideLayout1.xml" Id="R3d2b3b2d24b34f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2b3b2d24b34f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85ada64f5242f1" /><Relationship Type="http://schemas.openxmlformats.org/officeDocument/2006/relationships/image" Target="/ppt/media/image.jpeg" Id="Ra1cfd0e8a74e44f6" /><Relationship Type="http://schemas.openxmlformats.org/officeDocument/2006/relationships/notesSlide" Target="/ppt/notesSlides/notesSlide1.xml" Id="R585f1b73ebde47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eb89c87ccf462a" /><Relationship Type="http://schemas.openxmlformats.org/officeDocument/2006/relationships/image" Target="/ppt/media/image.png" Id="R85885def593c4f62" /><Relationship Type="http://schemas.openxmlformats.org/officeDocument/2006/relationships/notesSlide" Target="/ppt/notesSlides/notesSlide2.xml" Id="R1dd3756cbd3446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1141633ec2413a" /><Relationship Type="http://schemas.openxmlformats.org/officeDocument/2006/relationships/image" Target="/ppt/media/image2.jpeg" Id="R2e7f13c3a9b14ace" /><Relationship Type="http://schemas.openxmlformats.org/officeDocument/2006/relationships/notesSlide" Target="/ppt/notesSlides/notesSlide3.xml" Id="R294c3ec37e9e4c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029c665a184102" /><Relationship Type="http://schemas.openxmlformats.org/officeDocument/2006/relationships/image" Target="/ppt/media/image3.jpeg" Id="Ref6d2bce7e97472b" /><Relationship Type="http://schemas.openxmlformats.org/officeDocument/2006/relationships/notesSlide" Target="/ppt/notesSlides/notesSlide4.xml" Id="R273990c3512349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f27f10809d4e3e" /><Relationship Type="http://schemas.openxmlformats.org/officeDocument/2006/relationships/image" Target="/ppt/media/image4.jpeg" Id="R8a5945da742640a3" /><Relationship Type="http://schemas.openxmlformats.org/officeDocument/2006/relationships/image" Target="/ppt/media/image5.jpeg" Id="Rcddd962648304e30" /><Relationship Type="http://schemas.openxmlformats.org/officeDocument/2006/relationships/notesSlide" Target="/ppt/notesSlides/notesSlide5.xml" Id="R37f082bf1f7740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2e9f04743c4716" /><Relationship Type="http://schemas.openxmlformats.org/officeDocument/2006/relationships/image" Target="/ppt/media/image6.jpeg" Id="Rd40f2bda662f4e39" /><Relationship Type="http://schemas.openxmlformats.org/officeDocument/2006/relationships/notesSlide" Target="/ppt/notesSlides/notesSlide6.xml" Id="Rc0a6cc6242434a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25439090814cb4" /><Relationship Type="http://schemas.openxmlformats.org/officeDocument/2006/relationships/image" Target="/ppt/media/image7.jpeg" Id="R6649793816ec4987" /><Relationship Type="http://schemas.openxmlformats.org/officeDocument/2006/relationships/notesSlide" Target="/ppt/notesSlides/notesSlide7.xml" Id="R5b1888acd66546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776486b0c74741" /><Relationship Type="http://schemas.openxmlformats.org/officeDocument/2006/relationships/image" Target="/ppt/media/image8.jpeg" Id="R9df780651f3a4557" /><Relationship Type="http://schemas.openxmlformats.org/officeDocument/2006/relationships/image" Target="/ppt/media/image9.jpeg" Id="R9648a9ff85bf4eb8" /><Relationship Type="http://schemas.openxmlformats.org/officeDocument/2006/relationships/notesSlide" Target="/ppt/notesSlides/notesSlide8.xml" Id="R1158f9dac3bb42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d44a53d3bb41ae" /><Relationship Type="http://schemas.openxmlformats.org/officeDocument/2006/relationships/image" Target="/ppt/media/image10.jpeg" Id="R9522309f10bb40de" /><Relationship Type="http://schemas.openxmlformats.org/officeDocument/2006/relationships/image" Target="/ppt/media/image11.jpeg" Id="R12211ef2108a4bd9" /><Relationship Type="http://schemas.openxmlformats.org/officeDocument/2006/relationships/notesSlide" Target="/ppt/notesSlides/notesSlide9.xml" Id="R03ab767184a94c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73dbf9c9224165" /><Relationship Type="http://schemas.openxmlformats.org/officeDocument/2006/relationships/image" Target="/ppt/media/image12.jpeg" Id="R99741a9d24e34c9c" /><Relationship Type="http://schemas.openxmlformats.org/officeDocument/2006/relationships/notesSlide" Target="/ppt/notesSlides/notesSlide10.xml" Id="Re42e7ac3c35846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e1af7433bf475d" /><Relationship Type="http://schemas.openxmlformats.org/officeDocument/2006/relationships/notesSlide" Target="/ppt/notesSlides/notesSlide11.xml" Id="R34b9dd8a2ea24bd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F18EEB-D4FD-4BEF-ADD3-F8F86755531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969DA"/>
          </a:solidFill>
        </p:spPr>
      </p:sp>
      <p:sp>
        <p:nvSpPr>
          <p:cNvPr id="2" name="">
            <a:extLst xmlns:a="http://schemas.openxmlformats.org/drawingml/2006/main">
              <a:ext uri="{FF2B5EF4-FFF2-40B4-BE49-F238E27FC236}">
                <a16:creationId xmlns:a16="http://schemas.microsoft.com/office/drawing/2014/main" id="{173035FB-B433-409B-8946-6FD74FF9FF7B}"/>
              </a:ext>
            </a:extLst>
          </p:cNvPr>
          <p:cNvSpPr>
            <a:spLocks xmlns:a="http://schemas.openxmlformats.org/drawingml/2006/main" noGrp="1"/>
          </p:cNvSpPr>
          <p:nvPr/>
        </p:nvSpPr>
        <p:spPr>
          <a:xfrm xmlns:a="http://schemas.openxmlformats.org/drawingml/2006/main">
            <a:off x="514350" y="514350"/>
            <a:ext cx="4286250" cy="2476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125" b="1">
                <a:solidFill>
                  <a:srgbClr val="0969DA"/>
                </a:solidFill>
                <a:latin typeface="Arial"/>
                <a:ea typeface="Arial"/>
                <a:cs typeface="Arial"/>
              </a:defRPr>
            </a:pPr>
            <a:r>
              <a:t>PEOPLEOPS ASSISTANT</a:t>
            </a:r>
          </a:p>
        </p:txBody>
      </p:sp>
      <p:sp>
        <p:nvSpPr>
          <p:cNvPr id="3" name="">
            <a:extLst xmlns:a="http://schemas.openxmlformats.org/drawingml/2006/main">
              <a:ext uri="{FF2B5EF4-FFF2-40B4-BE49-F238E27FC236}">
                <a16:creationId xmlns:a16="http://schemas.microsoft.com/office/drawing/2014/main" id="{B9BBEABA-33CD-462F-90D2-4FE0AE26CBA9}"/>
              </a:ext>
            </a:extLst>
          </p:cNvPr>
          <p:cNvSpPr>
            <a:spLocks xmlns:a="http://schemas.openxmlformats.org/drawingml/2006/main" noGrp="1"/>
          </p:cNvSpPr>
          <p:nvPr/>
        </p:nvSpPr>
        <p:spPr>
          <a:xfrm xmlns:a="http://schemas.openxmlformats.org/drawingml/2006/main">
            <a:off x="514350" y="1104900"/>
            <a:ext cx="4857750" cy="1714500"/>
          </a:xfrm>
          <a:prstGeom xmlns:a="http://schemas.openxmlformats.org/drawingml/2006/main" prst="rect">
            <a:avLst/>
          </a:prstGeom>
        </p:spPr>
        <p:txBody>
          <a:bodyPr xmlns:a="http://schemas.openxmlformats.org/drawingml/2006/main" spcFirstLastPara="1" lIns="0" tIns="0" rIns="0" bIns="0" anchor="t">
            <a:normAutofit fontScale="93286"/>
          </a:bodyPr>
          <a:lstStyle xmlns:a="http://schemas.openxmlformats.org/drawingml/2006/main"/>
          <a:p xmlns:a="http://schemas.openxmlformats.org/drawingml/2006/main">
            <a:pPr algn="l">
              <a:defRPr sz="4650" b="1">
                <a:solidFill>
                  <a:srgbClr val="111111"/>
                </a:solidFill>
                <a:latin typeface="Arial"/>
                <a:ea typeface="Arial"/>
                <a:cs typeface="Arial"/>
              </a:defRPr>
            </a:pPr>
            <a:r>
              <a:t>Two agentic tasks,
fully traceable</a:t>
            </a:r>
          </a:p>
        </p:txBody>
      </p:sp>
      <p:sp>
        <p:nvSpPr>
          <p:cNvPr id="4" name="">
            <a:extLst xmlns:a="http://schemas.openxmlformats.org/drawingml/2006/main">
              <a:ext uri="{FF2B5EF4-FFF2-40B4-BE49-F238E27FC236}">
                <a16:creationId xmlns:a16="http://schemas.microsoft.com/office/drawing/2014/main" id="{2934BAEA-46CF-4913-8204-718F9B47AC74}"/>
              </a:ext>
            </a:extLst>
          </p:cNvPr>
          <p:cNvSpPr>
            <a:spLocks xmlns:a="http://schemas.openxmlformats.org/drawingml/2006/main" noGrp="1"/>
          </p:cNvSpPr>
          <p:nvPr/>
        </p:nvSpPr>
        <p:spPr>
          <a:xfrm xmlns:a="http://schemas.openxmlformats.org/drawingml/2006/main">
            <a:off x="514350" y="3086100"/>
            <a:ext cx="4619625" cy="8953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800" b="0">
                <a:solidFill>
                  <a:srgbClr val="555555"/>
                </a:solidFill>
                <a:latin typeface="Arial"/>
                <a:ea typeface="Arial"/>
                <a:cs typeface="Arial"/>
              </a:defRPr>
            </a:pPr>
            <a:r>
              <a:t>Live MCP tool calls, grounded citations, and safe final outcomes.</a:t>
            </a:r>
          </a:p>
        </p:txBody>
      </p:sp>
      <p:sp>
        <p:nvSpPr>
          <p:cNvPr id="5" name="">
            <a:extLst xmlns:a="http://schemas.openxmlformats.org/drawingml/2006/main">
              <a:ext uri="{FF2B5EF4-FFF2-40B4-BE49-F238E27FC236}">
                <a16:creationId xmlns:a16="http://schemas.microsoft.com/office/drawing/2014/main" id="{8EDB9177-35D3-4BF3-9D55-CF0EBBE92283}"/>
              </a:ext>
            </a:extLst>
          </p:cNvPr>
          <p:cNvSpPr>
            <a:spLocks xmlns:a="http://schemas.openxmlformats.org/drawingml/2006/main" noGrp="1"/>
          </p:cNvSpPr>
          <p:nvPr/>
        </p:nvSpPr>
        <p:spPr>
          <a:xfrm xmlns:a="http://schemas.openxmlformats.org/drawingml/2006/main">
            <a:off x="514350" y="4629150"/>
            <a:ext cx="2095500" cy="552450"/>
          </a:xfrm>
          <a:prstGeom xmlns:a="http://schemas.openxmlformats.org/drawingml/2006/main" prst="rect">
            <a:avLst/>
          </a:prstGeom>
          <a:solidFill xmlns:a="http://schemas.openxmlformats.org/drawingml/2006/main">
            <a:srgbClr val="EAF2FF"/>
          </a:solidFill>
        </p:spPr>
      </p:sp>
      <p:sp>
        <p:nvSpPr>
          <p:cNvPr id="6" name="">
            <a:extLst xmlns:a="http://schemas.openxmlformats.org/drawingml/2006/main">
              <a:ext uri="{FF2B5EF4-FFF2-40B4-BE49-F238E27FC236}">
                <a16:creationId xmlns:a16="http://schemas.microsoft.com/office/drawing/2014/main" id="{F2F3E819-AD1C-4396-A291-E35EAE2A9AFB}"/>
              </a:ext>
            </a:extLst>
          </p:cNvPr>
          <p:cNvSpPr>
            <a:spLocks xmlns:a="http://schemas.openxmlformats.org/drawingml/2006/main" noGrp="1"/>
          </p:cNvSpPr>
          <p:nvPr/>
        </p:nvSpPr>
        <p:spPr>
          <a:xfrm xmlns:a="http://schemas.openxmlformats.org/drawingml/2006/main">
            <a:off x="685800" y="4752975"/>
            <a:ext cx="1752600" cy="2952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0969DA"/>
                </a:solidFill>
                <a:latin typeface="Arial"/>
                <a:ea typeface="Arial"/>
                <a:cs typeface="Arial"/>
              </a:defRPr>
            </a:pPr>
            <a:r>
              <a:t>8 MCP operations</a:t>
            </a:r>
          </a:p>
        </p:txBody>
      </p:sp>
      <p:sp>
        <p:nvSpPr>
          <p:cNvPr id="7" name="">
            <a:extLst xmlns:a="http://schemas.openxmlformats.org/drawingml/2006/main">
              <a:ext uri="{FF2B5EF4-FFF2-40B4-BE49-F238E27FC236}">
                <a16:creationId xmlns:a16="http://schemas.microsoft.com/office/drawing/2014/main" id="{3F542B6D-4ACD-4142-81AB-8C9E88346E55}"/>
              </a:ext>
            </a:extLst>
          </p:cNvPr>
          <p:cNvSpPr>
            <a:spLocks xmlns:a="http://schemas.openxmlformats.org/drawingml/2006/main" noGrp="1"/>
          </p:cNvSpPr>
          <p:nvPr/>
        </p:nvSpPr>
        <p:spPr>
          <a:xfrm xmlns:a="http://schemas.openxmlformats.org/drawingml/2006/main">
            <a:off x="2771775" y="4629150"/>
            <a:ext cx="2047875" cy="552450"/>
          </a:xfrm>
          <a:prstGeom xmlns:a="http://schemas.openxmlformats.org/drawingml/2006/main" prst="rect">
            <a:avLst/>
          </a:prstGeom>
          <a:solidFill xmlns:a="http://schemas.openxmlformats.org/drawingml/2006/main">
            <a:srgbClr val="EAF7EF"/>
          </a:solidFill>
        </p:spPr>
      </p:sp>
      <p:sp>
        <p:nvSpPr>
          <p:cNvPr id="8" name="">
            <a:extLst xmlns:a="http://schemas.openxmlformats.org/drawingml/2006/main">
              <a:ext uri="{FF2B5EF4-FFF2-40B4-BE49-F238E27FC236}">
                <a16:creationId xmlns:a16="http://schemas.microsoft.com/office/drawing/2014/main" id="{F21F98DC-5C55-4E1B-9CD0-DA2BB7103641}"/>
              </a:ext>
            </a:extLst>
          </p:cNvPr>
          <p:cNvSpPr>
            <a:spLocks xmlns:a="http://schemas.openxmlformats.org/drawingml/2006/main" noGrp="1"/>
          </p:cNvSpPr>
          <p:nvPr/>
        </p:nvSpPr>
        <p:spPr>
          <a:xfrm xmlns:a="http://schemas.openxmlformats.org/drawingml/2006/main">
            <a:off x="2943225" y="4752975"/>
            <a:ext cx="1704975" cy="295275"/>
          </a:xfrm>
          <a:prstGeom xmlns:a="http://schemas.openxmlformats.org/drawingml/2006/main" prst="rect">
            <a:avLst/>
          </a:prstGeom>
        </p:spPr>
        <p:txBody>
          <a:bodyPr xmlns:a="http://schemas.openxmlformats.org/drawingml/2006/main" spcFirstLastPara="1" lIns="0" tIns="0" rIns="0" bIns="0" anchor="t">
            <a:normAutofit fontScale="96483"/>
          </a:bodyPr>
          <a:lstStyle xmlns:a="http://schemas.openxmlformats.org/drawingml/2006/main"/>
          <a:p xmlns:a="http://schemas.openxmlformats.org/drawingml/2006/main">
            <a:pPr algn="l">
              <a:defRPr sz="1575" b="1">
                <a:solidFill>
                  <a:srgbClr val="1A7F37"/>
                </a:solidFill>
                <a:latin typeface="Arial"/>
                <a:ea typeface="Arial"/>
                <a:cs typeface="Arial"/>
              </a:defRPr>
            </a:pPr>
            <a:r>
              <a:t>2 end-to-end tasks</a:t>
            </a:r>
          </a:p>
        </p:txBody>
      </p:sp>
      <p:sp>
        <p:nvSpPr>
          <p:cNvPr id="9" name="">
            <a:extLst xmlns:a="http://schemas.openxmlformats.org/drawingml/2006/main">
              <a:ext uri="{FF2B5EF4-FFF2-40B4-BE49-F238E27FC236}">
                <a16:creationId xmlns:a16="http://schemas.microsoft.com/office/drawing/2014/main" id="{525307D3-80B4-4F91-820F-09993FE57558}"/>
              </a:ext>
            </a:extLst>
          </p:cNvPr>
          <p:cNvSpPr>
            <a:spLocks xmlns:a="http://schemas.openxmlformats.org/drawingml/2006/main" noGrp="1"/>
          </p:cNvSpPr>
          <p:nvPr/>
        </p:nvSpPr>
        <p:spPr>
          <a:xfrm xmlns:a="http://schemas.openxmlformats.org/drawingml/2006/main">
            <a:off x="514350" y="6153150"/>
            <a:ext cx="4572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125" b="0">
                <a:solidFill>
                  <a:srgbClr val="555555"/>
                </a:solidFill>
                <a:latin typeface="Arial"/>
                <a:ea typeface="Arial"/>
                <a:cs typeface="Arial"/>
              </a:defRPr>
            </a:pPr>
            <a:r>
              <a:t>Synthetic demonstration · Northstar Technologies Inc.</a:t>
            </a:r>
          </a:p>
        </p:txBody>
      </p:sp>
      <p:sp>
        <p:nvSpPr>
          <p:cNvPr id="10" name="">
            <a:extLst xmlns:a="http://schemas.openxmlformats.org/drawingml/2006/main">
              <a:ext uri="{FF2B5EF4-FFF2-40B4-BE49-F238E27FC236}">
                <a16:creationId xmlns:a16="http://schemas.microsoft.com/office/drawing/2014/main" id="{0CC7A556-E5C6-409F-A73C-B872512031DB}"/>
              </a:ext>
            </a:extLst>
          </p:cNvPr>
          <p:cNvSpPr>
            <a:spLocks xmlns:a="http://schemas.openxmlformats.org/drawingml/2006/main" noGrp="1"/>
          </p:cNvSpPr>
          <p:nvPr/>
        </p:nvSpPr>
        <p:spPr>
          <a:xfrm xmlns:a="http://schemas.openxmlformats.org/drawingml/2006/main">
            <a:off x="5572125" y="400050"/>
            <a:ext cx="6219825" cy="5924550"/>
          </a:xfrm>
          <a:prstGeom xmlns:a="http://schemas.openxmlformats.org/drawingml/2006/main" prst="rect">
            <a:avLst/>
          </a:prstGeom>
          <a:solidFill xmlns:a="http://schemas.openxmlformats.org/drawingml/2006/main">
            <a:srgbClr val="F5F7FA"/>
          </a:solidFill>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1cfd0e8a74e44f6"/>
          <a:stretch xmlns:a="http://schemas.openxmlformats.org/drawingml/2006/main"/>
        </p:blipFill>
        <p:spPr>
          <a:xfrm xmlns:a="http://schemas.openxmlformats.org/drawingml/2006/main">
            <a:off x="5762625" y="1720444"/>
            <a:ext cx="5838825" cy="3283763"/>
          </a:xfrm>
          <a:prstGeom xmlns:a="http://schemas.openxmlformats.org/drawingml/2006/main" prst="rect">
            <a:avLst/>
          </a:prstGeom>
        </p:spPr>
      </p:pic>
    </p:spTree>
    <p:extLst>
      <p:ext uri="{BB962C8B-B14F-4D97-AF65-F5344CB8AC3E}">
        <p14:creationId xmlns:p14="http://schemas.microsoft.com/office/powerpoint/2010/main" val="12340969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E7DFE1-8F5C-4778-BAA8-951E72ACCD46}"/>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DESIGN</a:t>
            </a:r>
          </a:p>
        </p:txBody>
      </p:sp>
      <p:sp>
        <p:nvSpPr>
          <p:cNvPr id="2" name="">
            <a:extLst xmlns:a="http://schemas.openxmlformats.org/drawingml/2006/main">
              <a:ext uri="{FF2B5EF4-FFF2-40B4-BE49-F238E27FC236}">
                <a16:creationId xmlns:a16="http://schemas.microsoft.com/office/drawing/2014/main" id="{06A042E2-A3C7-454B-A382-CA3F1133D48B}"/>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3000" b="1">
                <a:solidFill>
                  <a:srgbClr val="111111"/>
                </a:solidFill>
                <a:latin typeface="Arial"/>
                <a:ea typeface="Arial"/>
                <a:cs typeface="Arial"/>
              </a:defRPr>
            </a:pPr>
            <a:r>
              <a:t>The agent plans; MCP performs every evidence operation</a:t>
            </a:r>
          </a:p>
        </p:txBody>
      </p:sp>
      <p:sp>
        <p:nvSpPr>
          <p:cNvPr id="3" name="">
            <a:extLst xmlns:a="http://schemas.openxmlformats.org/drawingml/2006/main">
              <a:ext uri="{FF2B5EF4-FFF2-40B4-BE49-F238E27FC236}">
                <a16:creationId xmlns:a16="http://schemas.microsoft.com/office/drawing/2014/main" id="{7E330BA0-078C-4492-B008-570391D5C926}"/>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F9303C29-6ABD-433F-8354-136E899F88FA}"/>
              </a:ext>
            </a:extLst>
          </p:cNvPr>
          <p:cNvSpPr>
            <a:spLocks xmlns:a="http://schemas.openxmlformats.org/drawingml/2006/main" noGrp="1"/>
          </p:cNvSpPr>
          <p:nvPr/>
        </p:nvSpPr>
        <p:spPr>
          <a:xfrm xmlns:a="http://schemas.openxmlformats.org/drawingml/2006/main">
            <a:off x="400050" y="1466850"/>
            <a:ext cx="6191250" cy="48958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B01B2EF2-B1B8-4BD1-B7BD-C3AB56E1C77E}"/>
              </a:ext>
            </a:extLst>
          </p:cNvPr>
          <p:cNvSpPr>
            <a:spLocks xmlns:a="http://schemas.openxmlformats.org/drawingml/2006/main" noGrp="1"/>
          </p:cNvSpPr>
          <p:nvPr/>
        </p:nvSpPr>
        <p:spPr>
          <a:xfrm xmlns:a="http://schemas.openxmlformats.org/drawingml/2006/main">
            <a:off x="7010400" y="1743075"/>
            <a:ext cx="114300" cy="114300"/>
          </a:xfrm>
          <a:prstGeom xmlns:a="http://schemas.openxmlformats.org/drawingml/2006/main" prst="rect">
            <a:avLst/>
          </a:prstGeom>
          <a:solidFill xmlns:a="http://schemas.openxmlformats.org/drawingml/2006/main">
            <a:srgbClr val="0969DA"/>
          </a:solidFill>
        </p:spPr>
      </p:sp>
      <p:sp>
        <p:nvSpPr>
          <p:cNvPr id="6" name="">
            <a:extLst xmlns:a="http://schemas.openxmlformats.org/drawingml/2006/main">
              <a:ext uri="{FF2B5EF4-FFF2-40B4-BE49-F238E27FC236}">
                <a16:creationId xmlns:a16="http://schemas.microsoft.com/office/drawing/2014/main" id="{417480CA-EE80-4CB0-AD11-A36A200D584A}"/>
              </a:ext>
            </a:extLst>
          </p:cNvPr>
          <p:cNvSpPr>
            <a:spLocks xmlns:a="http://schemas.openxmlformats.org/drawingml/2006/main" noGrp="1"/>
          </p:cNvSpPr>
          <p:nvPr/>
        </p:nvSpPr>
        <p:spPr>
          <a:xfrm xmlns:a="http://schemas.openxmlformats.org/drawingml/2006/main">
            <a:off x="7277100" y="1695450"/>
            <a:ext cx="41910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00" b="1">
                <a:solidFill>
                  <a:srgbClr val="111111"/>
                </a:solidFill>
                <a:latin typeface="Arial"/>
                <a:ea typeface="Arial"/>
                <a:cs typeface="Arial"/>
              </a:defRPr>
            </a:pPr>
            <a:r>
              <a:t>Bounded orchestration</a:t>
            </a:r>
          </a:p>
        </p:txBody>
      </p:sp>
      <p:sp>
        <p:nvSpPr>
          <p:cNvPr id="7" name="">
            <a:extLst xmlns:a="http://schemas.openxmlformats.org/drawingml/2006/main">
              <a:ext uri="{FF2B5EF4-FFF2-40B4-BE49-F238E27FC236}">
                <a16:creationId xmlns:a16="http://schemas.microsoft.com/office/drawing/2014/main" id="{902FC9D4-5EFB-476A-819A-76320577FD91}"/>
              </a:ext>
            </a:extLst>
          </p:cNvPr>
          <p:cNvSpPr>
            <a:spLocks xmlns:a="http://schemas.openxmlformats.org/drawingml/2006/main" noGrp="1"/>
          </p:cNvSpPr>
          <p:nvPr/>
        </p:nvSpPr>
        <p:spPr>
          <a:xfrm xmlns:a="http://schemas.openxmlformats.org/drawingml/2006/main">
            <a:off x="7277100" y="1971675"/>
            <a:ext cx="4191000" cy="5334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Intent routing chooses a typed workflow; the LLM cannot invent tools or citations.</a:t>
            </a:r>
          </a:p>
        </p:txBody>
      </p:sp>
      <p:sp>
        <p:nvSpPr>
          <p:cNvPr id="8" name="">
            <a:extLst xmlns:a="http://schemas.openxmlformats.org/drawingml/2006/main">
              <a:ext uri="{FF2B5EF4-FFF2-40B4-BE49-F238E27FC236}">
                <a16:creationId xmlns:a16="http://schemas.microsoft.com/office/drawing/2014/main" id="{2A5A07C6-8DF2-42E3-A07A-2F858007589F}"/>
              </a:ext>
            </a:extLst>
          </p:cNvPr>
          <p:cNvSpPr>
            <a:spLocks xmlns:a="http://schemas.openxmlformats.org/drawingml/2006/main" noGrp="1"/>
          </p:cNvSpPr>
          <p:nvPr/>
        </p:nvSpPr>
        <p:spPr>
          <a:xfrm xmlns:a="http://schemas.openxmlformats.org/drawingml/2006/main">
            <a:off x="7010400" y="2828925"/>
            <a:ext cx="114300" cy="114300"/>
          </a:xfrm>
          <a:prstGeom xmlns:a="http://schemas.openxmlformats.org/drawingml/2006/main" prst="rect">
            <a:avLst/>
          </a:prstGeom>
          <a:solidFill xmlns:a="http://schemas.openxmlformats.org/drawingml/2006/main">
            <a:srgbClr val="1A7F37"/>
          </a:solidFill>
        </p:spPr>
      </p:sp>
      <p:sp>
        <p:nvSpPr>
          <p:cNvPr id="9" name="">
            <a:extLst xmlns:a="http://schemas.openxmlformats.org/drawingml/2006/main">
              <a:ext uri="{FF2B5EF4-FFF2-40B4-BE49-F238E27FC236}">
                <a16:creationId xmlns:a16="http://schemas.microsoft.com/office/drawing/2014/main" id="{F400AB39-AEF6-4A05-B9BE-F8CFEFCC1749}"/>
              </a:ext>
            </a:extLst>
          </p:cNvPr>
          <p:cNvSpPr>
            <a:spLocks xmlns:a="http://schemas.openxmlformats.org/drawingml/2006/main" noGrp="1"/>
          </p:cNvSpPr>
          <p:nvPr/>
        </p:nvSpPr>
        <p:spPr>
          <a:xfrm xmlns:a="http://schemas.openxmlformats.org/drawingml/2006/main">
            <a:off x="7277100" y="2781300"/>
            <a:ext cx="41910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00" b="1">
                <a:solidFill>
                  <a:srgbClr val="111111"/>
                </a:solidFill>
                <a:latin typeface="Arial"/>
                <a:ea typeface="Arial"/>
                <a:cs typeface="Arial"/>
              </a:defRPr>
            </a:pPr>
            <a:r>
              <a:t>Official MCP boundary</a:t>
            </a:r>
          </a:p>
        </p:txBody>
      </p:sp>
      <p:sp>
        <p:nvSpPr>
          <p:cNvPr id="10" name="">
            <a:extLst xmlns:a="http://schemas.openxmlformats.org/drawingml/2006/main">
              <a:ext uri="{FF2B5EF4-FFF2-40B4-BE49-F238E27FC236}">
                <a16:creationId xmlns:a16="http://schemas.microsoft.com/office/drawing/2014/main" id="{98446D1C-6983-41AC-A471-A2DDAA4C69C4}"/>
              </a:ext>
            </a:extLst>
          </p:cNvPr>
          <p:cNvSpPr>
            <a:spLocks xmlns:a="http://schemas.openxmlformats.org/drawingml/2006/main" noGrp="1"/>
          </p:cNvSpPr>
          <p:nvPr/>
        </p:nvSpPr>
        <p:spPr>
          <a:xfrm xmlns:a="http://schemas.openxmlformats.org/drawingml/2006/main">
            <a:off x="7277100" y="3057525"/>
            <a:ext cx="4191000" cy="5334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Discovery, schema validation, calls, retries, and sanitized traces cross the MCP client/server boundary.</a:t>
            </a:r>
          </a:p>
        </p:txBody>
      </p:sp>
      <p:sp>
        <p:nvSpPr>
          <p:cNvPr id="11" name="">
            <a:extLst xmlns:a="http://schemas.openxmlformats.org/drawingml/2006/main">
              <a:ext uri="{FF2B5EF4-FFF2-40B4-BE49-F238E27FC236}">
                <a16:creationId xmlns:a16="http://schemas.microsoft.com/office/drawing/2014/main" id="{90169A10-F7A0-46F6-B3BF-8AD52F058E59}"/>
              </a:ext>
            </a:extLst>
          </p:cNvPr>
          <p:cNvSpPr>
            <a:spLocks xmlns:a="http://schemas.openxmlformats.org/drawingml/2006/main" noGrp="1"/>
          </p:cNvSpPr>
          <p:nvPr/>
        </p:nvSpPr>
        <p:spPr>
          <a:xfrm xmlns:a="http://schemas.openxmlformats.org/drawingml/2006/main">
            <a:off x="7010400" y="4057650"/>
            <a:ext cx="114300" cy="114300"/>
          </a:xfrm>
          <a:prstGeom xmlns:a="http://schemas.openxmlformats.org/drawingml/2006/main" prst="rect">
            <a:avLst/>
          </a:prstGeom>
          <a:solidFill xmlns:a="http://schemas.openxmlformats.org/drawingml/2006/main">
            <a:srgbClr val="9A6700"/>
          </a:solidFill>
        </p:spPr>
      </p:sp>
      <p:sp>
        <p:nvSpPr>
          <p:cNvPr id="12" name="">
            <a:extLst xmlns:a="http://schemas.openxmlformats.org/drawingml/2006/main">
              <a:ext uri="{FF2B5EF4-FFF2-40B4-BE49-F238E27FC236}">
                <a16:creationId xmlns:a16="http://schemas.microsoft.com/office/drawing/2014/main" id="{9AD24F2A-6EA0-4E4A-AEC2-37E640F8F890}"/>
              </a:ext>
            </a:extLst>
          </p:cNvPr>
          <p:cNvSpPr>
            <a:spLocks xmlns:a="http://schemas.openxmlformats.org/drawingml/2006/main" noGrp="1"/>
          </p:cNvSpPr>
          <p:nvPr/>
        </p:nvSpPr>
        <p:spPr>
          <a:xfrm xmlns:a="http://schemas.openxmlformats.org/drawingml/2006/main">
            <a:off x="7277100" y="4010025"/>
            <a:ext cx="41910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00" b="1">
                <a:solidFill>
                  <a:srgbClr val="111111"/>
                </a:solidFill>
                <a:latin typeface="Arial"/>
                <a:ea typeface="Arial"/>
                <a:cs typeface="Arial"/>
              </a:defRPr>
            </a:pPr>
            <a:r>
              <a:t>Grounded synthesis</a:t>
            </a:r>
          </a:p>
        </p:txBody>
      </p:sp>
      <p:sp>
        <p:nvSpPr>
          <p:cNvPr id="13" name="">
            <a:extLst xmlns:a="http://schemas.openxmlformats.org/drawingml/2006/main">
              <a:ext uri="{FF2B5EF4-FFF2-40B4-BE49-F238E27FC236}">
                <a16:creationId xmlns:a16="http://schemas.microsoft.com/office/drawing/2014/main" id="{49D00721-22FC-4ABE-9485-36C6AE2427EC}"/>
              </a:ext>
            </a:extLst>
          </p:cNvPr>
          <p:cNvSpPr>
            <a:spLocks xmlns:a="http://schemas.openxmlformats.org/drawingml/2006/main" noGrp="1"/>
          </p:cNvSpPr>
          <p:nvPr/>
        </p:nvSpPr>
        <p:spPr>
          <a:xfrm xmlns:a="http://schemas.openxmlformats.org/drawingml/2006/main">
            <a:off x="7277100" y="4286250"/>
            <a:ext cx="4191000" cy="5334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Exact policy sections and structured data are validated before the final answer is displayed.</a:t>
            </a:r>
          </a:p>
        </p:txBody>
      </p:sp>
      <p:sp>
        <p:nvSpPr>
          <p:cNvPr id="14" name="">
            <a:extLst xmlns:a="http://schemas.openxmlformats.org/drawingml/2006/main">
              <a:ext uri="{FF2B5EF4-FFF2-40B4-BE49-F238E27FC236}">
                <a16:creationId xmlns:a16="http://schemas.microsoft.com/office/drawing/2014/main" id="{22F5D48D-B213-4F8D-9F53-B7F4C879F9C7}"/>
              </a:ext>
            </a:extLst>
          </p:cNvPr>
          <p:cNvSpPr>
            <a:spLocks xmlns:a="http://schemas.openxmlformats.org/drawingml/2006/main" noGrp="1"/>
          </p:cNvSpPr>
          <p:nvPr/>
        </p:nvSpPr>
        <p:spPr>
          <a:xfrm xmlns:a="http://schemas.openxmlformats.org/drawingml/2006/main">
            <a:off x="7010400" y="5391150"/>
            <a:ext cx="4457700" cy="742950"/>
          </a:xfrm>
          <a:prstGeom xmlns:a="http://schemas.openxmlformats.org/drawingml/2006/main" prst="rect">
            <a:avLst/>
          </a:prstGeom>
          <a:solidFill xmlns:a="http://schemas.openxmlformats.org/drawingml/2006/main">
            <a:srgbClr val="EAF2FF"/>
          </a:solidFill>
        </p:spPr>
      </p:sp>
      <p:sp>
        <p:nvSpPr>
          <p:cNvPr id="15" name="">
            <a:extLst xmlns:a="http://schemas.openxmlformats.org/drawingml/2006/main">
              <a:ext uri="{FF2B5EF4-FFF2-40B4-BE49-F238E27FC236}">
                <a16:creationId xmlns:a16="http://schemas.microsoft.com/office/drawing/2014/main" id="{ED5F4DD7-1FD9-4F7E-9BE8-1F5C6584C191}"/>
              </a:ext>
            </a:extLst>
          </p:cNvPr>
          <p:cNvSpPr>
            <a:spLocks xmlns:a="http://schemas.openxmlformats.org/drawingml/2006/main" noGrp="1"/>
          </p:cNvSpPr>
          <p:nvPr/>
        </p:nvSpPr>
        <p:spPr>
          <a:xfrm xmlns:a="http://schemas.openxmlformats.org/drawingml/2006/main">
            <a:off x="7219950" y="5562600"/>
            <a:ext cx="4038600" cy="419100"/>
          </a:xfrm>
          <a:prstGeom xmlns:a="http://schemas.openxmlformats.org/drawingml/2006/main" prst="rect">
            <a:avLst/>
          </a:prstGeom>
        </p:spPr>
        <p:txBody>
          <a:bodyPr xmlns:a="http://schemas.openxmlformats.org/drawingml/2006/main" spcFirstLastPara="1" lIns="0" tIns="0" rIns="0" bIns="0" anchor="t">
            <a:normAutofit fontScale="87302"/>
          </a:bodyPr>
          <a:lstStyle xmlns:a="http://schemas.openxmlformats.org/drawingml/2006/main"/>
          <a:p xmlns:a="http://schemas.openxmlformats.org/drawingml/2006/main">
            <a:pPr algn="l">
              <a:defRPr sz="1575" b="1">
                <a:solidFill>
                  <a:srgbClr val="0969DA"/>
                </a:solidFill>
                <a:latin typeface="Arial"/>
                <a:ea typeface="Arial"/>
                <a:cs typeface="Arial"/>
              </a:defRPr>
            </a:pPr>
            <a:r>
              <a:t>UI → FastAPI → Orchestrator → MCP → RAG / synthetic data</a:t>
            </a:r>
          </a:p>
        </p:txBody>
      </p:sp>
      <p:sp>
        <p:nvSpPr>
          <p:cNvPr id="16" name="">
            <a:extLst xmlns:a="http://schemas.openxmlformats.org/drawingml/2006/main">
              <a:ext uri="{FF2B5EF4-FFF2-40B4-BE49-F238E27FC236}">
                <a16:creationId xmlns:a16="http://schemas.microsoft.com/office/drawing/2014/main" id="{B753E6C0-2F57-49D7-BDE8-B41CDE5AA299}"/>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02</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5885def593c4f62"/>
          <a:stretch xmlns:a="http://schemas.openxmlformats.org/drawingml/2006/main"/>
        </p:blipFill>
        <p:spPr>
          <a:xfrm xmlns:a="http://schemas.openxmlformats.org/drawingml/2006/main">
            <a:off x="1666223" y="1600200"/>
            <a:ext cx="3658904" cy="4572000"/>
          </a:xfrm>
          <a:prstGeom xmlns:a="http://schemas.openxmlformats.org/drawingml/2006/main" prst="rect">
            <a:avLst/>
          </a:prstGeom>
        </p:spPr>
      </p:pic>
    </p:spTree>
    <p:extLst>
      <p:ext uri="{BB962C8B-B14F-4D97-AF65-F5344CB8AC3E}">
        <p14:creationId xmlns:p14="http://schemas.microsoft.com/office/powerpoint/2010/main" val="8920498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9BB89F-95DF-4E1F-8A5A-620E09E1AA06}"/>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AGENTIC TASK 1 · INTERNATIONAL REMOTE WORK</a:t>
            </a:r>
          </a:p>
        </p:txBody>
      </p:sp>
      <p:sp>
        <p:nvSpPr>
          <p:cNvPr id="2" name="">
            <a:extLst xmlns:a="http://schemas.openxmlformats.org/drawingml/2006/main">
              <a:ext uri="{FF2B5EF4-FFF2-40B4-BE49-F238E27FC236}">
                <a16:creationId xmlns:a16="http://schemas.microsoft.com/office/drawing/2014/main" id="{F6C1C8AA-EB7D-4A77-9A1C-0C66C484B87B}"/>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6411"/>
          </a:bodyPr>
          <a:lstStyle xmlns:a="http://schemas.openxmlformats.org/drawingml/2006/main"/>
          <a:p xmlns:a="http://schemas.openxmlformats.org/drawingml/2006/main">
            <a:pPr algn="l">
              <a:defRPr sz="3000" b="1">
                <a:solidFill>
                  <a:srgbClr val="111111"/>
                </a:solidFill>
                <a:latin typeface="Arial"/>
                <a:ea typeface="Arial"/>
                <a:cs typeface="Arial"/>
              </a:defRPr>
            </a:pPr>
            <a:r>
              <a:t>Task 1 returns conditional eligibility, not an invented approval</a:t>
            </a:r>
          </a:p>
        </p:txBody>
      </p:sp>
      <p:sp>
        <p:nvSpPr>
          <p:cNvPr id="3" name="">
            <a:extLst xmlns:a="http://schemas.openxmlformats.org/drawingml/2006/main">
              <a:ext uri="{FF2B5EF4-FFF2-40B4-BE49-F238E27FC236}">
                <a16:creationId xmlns:a16="http://schemas.microsoft.com/office/drawing/2014/main" id="{584C74EB-F46D-4D4D-82AD-8643D2D7C511}"/>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DBA24C24-9894-4B9D-815F-F51CCBD17E5D}"/>
              </a:ext>
            </a:extLst>
          </p:cNvPr>
          <p:cNvSpPr>
            <a:spLocks xmlns:a="http://schemas.openxmlformats.org/drawingml/2006/main" noGrp="1"/>
          </p:cNvSpPr>
          <p:nvPr/>
        </p:nvSpPr>
        <p:spPr>
          <a:xfrm xmlns:a="http://schemas.openxmlformats.org/drawingml/2006/main">
            <a:off x="400050" y="1466850"/>
            <a:ext cx="7562850" cy="46672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E557E7E8-C3DD-460E-BB5C-E9305FC7D6F9}"/>
              </a:ext>
            </a:extLst>
          </p:cNvPr>
          <p:cNvSpPr>
            <a:spLocks xmlns:a="http://schemas.openxmlformats.org/drawingml/2006/main" noGrp="1"/>
          </p:cNvSpPr>
          <p:nvPr/>
        </p:nvSpPr>
        <p:spPr>
          <a:xfrm xmlns:a="http://schemas.openxmlformats.org/drawingml/2006/main">
            <a:off x="8305800" y="1562100"/>
            <a:ext cx="314325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0969DA"/>
                </a:solidFill>
                <a:latin typeface="Arial"/>
                <a:ea typeface="Arial"/>
                <a:cs typeface="Arial"/>
              </a:defRPr>
            </a:pPr>
            <a:r>
              <a:t>Prompt</a:t>
            </a:r>
          </a:p>
        </p:txBody>
      </p:sp>
      <p:sp>
        <p:nvSpPr>
          <p:cNvPr id="6" name="">
            <a:extLst xmlns:a="http://schemas.openxmlformats.org/drawingml/2006/main">
              <a:ext uri="{FF2B5EF4-FFF2-40B4-BE49-F238E27FC236}">
                <a16:creationId xmlns:a16="http://schemas.microsoft.com/office/drawing/2014/main" id="{8CFB9B81-B6BA-4668-9BA9-4CC421015C10}"/>
              </a:ext>
            </a:extLst>
          </p:cNvPr>
          <p:cNvSpPr>
            <a:spLocks xmlns:a="http://schemas.openxmlformats.org/drawingml/2006/main" noGrp="1"/>
          </p:cNvSpPr>
          <p:nvPr/>
        </p:nvSpPr>
        <p:spPr>
          <a:xfrm xmlns:a="http://schemas.openxmlformats.org/drawingml/2006/main">
            <a:off x="8305800" y="1847850"/>
            <a:ext cx="3143250" cy="6953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Can I work remotely from Germany for six weeks?</a:t>
            </a:r>
          </a:p>
        </p:txBody>
      </p:sp>
      <p:sp>
        <p:nvSpPr>
          <p:cNvPr id="7" name="">
            <a:extLst xmlns:a="http://schemas.openxmlformats.org/drawingml/2006/main">
              <a:ext uri="{FF2B5EF4-FFF2-40B4-BE49-F238E27FC236}">
                <a16:creationId xmlns:a16="http://schemas.microsoft.com/office/drawing/2014/main" id="{6DC2EB70-2E78-481A-AAAA-5A08F9CD5C97}"/>
              </a:ext>
            </a:extLst>
          </p:cNvPr>
          <p:cNvSpPr>
            <a:spLocks xmlns:a="http://schemas.openxmlformats.org/drawingml/2006/main" noGrp="1"/>
          </p:cNvSpPr>
          <p:nvPr/>
        </p:nvSpPr>
        <p:spPr>
          <a:xfrm xmlns:a="http://schemas.openxmlformats.org/drawingml/2006/main">
            <a:off x="8305800" y="2762250"/>
            <a:ext cx="3143250" cy="1066800"/>
          </a:xfrm>
          <a:prstGeom xmlns:a="http://schemas.openxmlformats.org/drawingml/2006/main" prst="rect">
            <a:avLst/>
          </a:prstGeom>
          <a:solidFill xmlns:a="http://schemas.openxmlformats.org/drawingml/2006/main">
            <a:srgbClr val="EAF7EF"/>
          </a:solidFill>
        </p:spPr>
      </p:sp>
      <p:sp>
        <p:nvSpPr>
          <p:cNvPr id="8" name="">
            <a:extLst xmlns:a="http://schemas.openxmlformats.org/drawingml/2006/main">
              <a:ext uri="{FF2B5EF4-FFF2-40B4-BE49-F238E27FC236}">
                <a16:creationId xmlns:a16="http://schemas.microsoft.com/office/drawing/2014/main" id="{3EE0A8AA-6B44-4301-882E-414FC486F478}"/>
              </a:ext>
            </a:extLst>
          </p:cNvPr>
          <p:cNvSpPr>
            <a:spLocks xmlns:a="http://schemas.openxmlformats.org/drawingml/2006/main" noGrp="1"/>
          </p:cNvSpPr>
          <p:nvPr/>
        </p:nvSpPr>
        <p:spPr>
          <a:xfrm xmlns:a="http://schemas.openxmlformats.org/drawingml/2006/main">
            <a:off x="8515350" y="2914650"/>
            <a:ext cx="2724150" cy="2095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1A7F37"/>
                </a:solidFill>
                <a:latin typeface="Arial"/>
                <a:ea typeface="Arial"/>
                <a:cs typeface="Arial"/>
              </a:defRPr>
            </a:pPr>
            <a:r>
              <a:t>Final answer</a:t>
            </a:r>
          </a:p>
        </p:txBody>
      </p:sp>
      <p:sp>
        <p:nvSpPr>
          <p:cNvPr id="9" name="">
            <a:extLst xmlns:a="http://schemas.openxmlformats.org/drawingml/2006/main">
              <a:ext uri="{FF2B5EF4-FFF2-40B4-BE49-F238E27FC236}">
                <a16:creationId xmlns:a16="http://schemas.microsoft.com/office/drawing/2014/main" id="{E52E4593-14EE-478F-91A8-69A2CA281F09}"/>
              </a:ext>
            </a:extLst>
          </p:cNvPr>
          <p:cNvSpPr>
            <a:spLocks xmlns:a="http://schemas.openxmlformats.org/drawingml/2006/main" noGrp="1"/>
          </p:cNvSpPr>
          <p:nvPr/>
        </p:nvSpPr>
        <p:spPr>
          <a:xfrm xmlns:a="http://schemas.openxmlformats.org/drawingml/2006/main">
            <a:off x="8515350" y="3238500"/>
            <a:ext cx="2724150" cy="381000"/>
          </a:xfrm>
          <a:prstGeom xmlns:a="http://schemas.openxmlformats.org/drawingml/2006/main" prst="rect">
            <a:avLst/>
          </a:prstGeom>
        </p:spPr>
        <p:txBody>
          <a:bodyPr xmlns:a="http://schemas.openxmlformats.org/drawingml/2006/main" spcFirstLastPara="1" lIns="0" tIns="0" rIns="0" bIns="0" anchor="t">
            <a:normAutofit fontScale="94812"/>
          </a:bodyPr>
          <a:lstStyle xmlns:a="http://schemas.openxmlformats.org/drawingml/2006/main"/>
          <a:p xmlns:a="http://schemas.openxmlformats.org/drawingml/2006/main">
            <a:pPr algn="l">
              <a:defRPr sz="2250" b="1">
                <a:solidFill>
                  <a:srgbClr val="1A7F37"/>
                </a:solidFill>
                <a:latin typeface="Arial"/>
                <a:ea typeface="Arial"/>
                <a:cs typeface="Arial"/>
              </a:defRPr>
            </a:pPr>
            <a:r>
              <a:t>Conditionally eligible</a:t>
            </a:r>
          </a:p>
        </p:txBody>
      </p:sp>
      <p:sp>
        <p:nvSpPr>
          <p:cNvPr id="10" name="">
            <a:extLst xmlns:a="http://schemas.openxmlformats.org/drawingml/2006/main">
              <a:ext uri="{FF2B5EF4-FFF2-40B4-BE49-F238E27FC236}">
                <a16:creationId xmlns:a16="http://schemas.microsoft.com/office/drawing/2014/main" id="{5AAC7E18-9784-41A9-840B-1FFCAED1653D}"/>
              </a:ext>
            </a:extLst>
          </p:cNvPr>
          <p:cNvSpPr>
            <a:spLocks xmlns:a="http://schemas.openxmlformats.org/drawingml/2006/main" noGrp="1"/>
          </p:cNvSpPr>
          <p:nvPr/>
        </p:nvSpPr>
        <p:spPr>
          <a:xfrm xmlns:a="http://schemas.openxmlformats.org/drawingml/2006/main">
            <a:off x="8305800" y="4029075"/>
            <a:ext cx="3143250" cy="5334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0">
                <a:solidFill>
                  <a:srgbClr val="555555"/>
                </a:solidFill>
                <a:latin typeface="Arial"/>
                <a:ea typeface="Arial"/>
                <a:cs typeface="Arial"/>
              </a:defRPr>
            </a:pPr>
            <a:r>
              <a:t>30 business days · international exceptional</a:t>
            </a:r>
          </a:p>
        </p:txBody>
      </p:sp>
      <p:sp>
        <p:nvSpPr>
          <p:cNvPr id="11" name="">
            <a:extLst xmlns:a="http://schemas.openxmlformats.org/drawingml/2006/main">
              <a:ext uri="{FF2B5EF4-FFF2-40B4-BE49-F238E27FC236}">
                <a16:creationId xmlns:a16="http://schemas.microsoft.com/office/drawing/2014/main" id="{C87F8BEE-3A42-43AC-9645-03EABA7302BE}"/>
              </a:ext>
            </a:extLst>
          </p:cNvPr>
          <p:cNvSpPr>
            <a:spLocks xmlns:a="http://schemas.openxmlformats.org/drawingml/2006/main" noGrp="1"/>
          </p:cNvSpPr>
          <p:nvPr/>
        </p:nvSpPr>
        <p:spPr>
          <a:xfrm xmlns:a="http://schemas.openxmlformats.org/drawingml/2006/main">
            <a:off x="8305800" y="4752975"/>
            <a:ext cx="314325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0969DA"/>
                </a:solidFill>
                <a:latin typeface="Arial"/>
                <a:ea typeface="Arial"/>
                <a:cs typeface="Arial"/>
              </a:defRPr>
            </a:pPr>
            <a:r>
              <a:t>Required citations</a:t>
            </a:r>
          </a:p>
        </p:txBody>
      </p:sp>
      <p:sp>
        <p:nvSpPr>
          <p:cNvPr id="12" name="">
            <a:extLst xmlns:a="http://schemas.openxmlformats.org/drawingml/2006/main">
              <a:ext uri="{FF2B5EF4-FFF2-40B4-BE49-F238E27FC236}">
                <a16:creationId xmlns:a16="http://schemas.microsoft.com/office/drawing/2014/main" id="{CCB4C9D2-9F32-4AFA-BFC7-363668656CF4}"/>
              </a:ext>
            </a:extLst>
          </p:cNvPr>
          <p:cNvSpPr>
            <a:spLocks xmlns:a="http://schemas.openxmlformats.org/drawingml/2006/main" noGrp="1"/>
          </p:cNvSpPr>
          <p:nvPr/>
        </p:nvSpPr>
        <p:spPr>
          <a:xfrm xmlns:a="http://schemas.openxmlformats.org/drawingml/2006/main">
            <a:off x="8305800" y="5067300"/>
            <a:ext cx="3143250" cy="5143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INT-5 · INT-13 · RWK-5 · SEC-8</a:t>
            </a:r>
          </a:p>
        </p:txBody>
      </p:sp>
      <p:sp>
        <p:nvSpPr>
          <p:cNvPr id="13" name="">
            <a:extLst xmlns:a="http://schemas.openxmlformats.org/drawingml/2006/main">
              <a:ext uri="{FF2B5EF4-FFF2-40B4-BE49-F238E27FC236}">
                <a16:creationId xmlns:a16="http://schemas.microsoft.com/office/drawing/2014/main" id="{EE123F76-79CC-40B0-ACA0-840EE17982D8}"/>
              </a:ext>
            </a:extLst>
          </p:cNvPr>
          <p:cNvSpPr>
            <a:spLocks xmlns:a="http://schemas.openxmlformats.org/drawingml/2006/main" noGrp="1"/>
          </p:cNvSpPr>
          <p:nvPr/>
        </p:nvSpPr>
        <p:spPr>
          <a:xfrm xmlns:a="http://schemas.openxmlformats.org/drawingml/2006/main">
            <a:off x="8305800" y="5734050"/>
            <a:ext cx="3143250" cy="400050"/>
          </a:xfrm>
          <a:prstGeom xmlns:a="http://schemas.openxmlformats.org/drawingml/2006/main" prst="rect">
            <a:avLst/>
          </a:prstGeom>
          <a:solidFill xmlns:a="http://schemas.openxmlformats.org/drawingml/2006/main">
            <a:srgbClr val="FFF6D8"/>
          </a:solidFill>
        </p:spPr>
      </p:sp>
      <p:sp>
        <p:nvSpPr>
          <p:cNvPr id="14" name="">
            <a:extLst xmlns:a="http://schemas.openxmlformats.org/drawingml/2006/main">
              <a:ext uri="{FF2B5EF4-FFF2-40B4-BE49-F238E27FC236}">
                <a16:creationId xmlns:a16="http://schemas.microsoft.com/office/drawing/2014/main" id="{3490A471-04D2-4831-BDB8-35B869FA570F}"/>
              </a:ext>
            </a:extLst>
          </p:cNvPr>
          <p:cNvSpPr>
            <a:spLocks xmlns:a="http://schemas.openxmlformats.org/drawingml/2006/main" noGrp="1"/>
          </p:cNvSpPr>
          <p:nvPr/>
        </p:nvSpPr>
        <p:spPr>
          <a:xfrm xmlns:a="http://schemas.openxmlformats.org/drawingml/2006/main">
            <a:off x="8496300" y="5829300"/>
            <a:ext cx="2771775" cy="238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9A6700"/>
                </a:solidFill>
                <a:latin typeface="Arial"/>
                <a:ea typeface="Arial"/>
                <a:cs typeface="Arial"/>
              </a:defRPr>
            </a:pPr>
            <a:r>
              <a:t>Exact travel dates still required</a:t>
            </a:r>
          </a:p>
        </p:txBody>
      </p:sp>
      <p:sp>
        <p:nvSpPr>
          <p:cNvPr id="15" name="">
            <a:extLst xmlns:a="http://schemas.openxmlformats.org/drawingml/2006/main">
              <a:ext uri="{FF2B5EF4-FFF2-40B4-BE49-F238E27FC236}">
                <a16:creationId xmlns:a16="http://schemas.microsoft.com/office/drawing/2014/main" id="{FBCD9B67-69E3-40AA-9E56-F898DBDF4D24}"/>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03</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e7f13c3a9b14ace"/>
          <a:stretch xmlns:a="http://schemas.openxmlformats.org/drawingml/2006/main"/>
        </p:blipFill>
        <p:spPr>
          <a:xfrm xmlns:a="http://schemas.openxmlformats.org/drawingml/2006/main">
            <a:off x="552450" y="1759507"/>
            <a:ext cx="7258050" cy="4081936"/>
          </a:xfrm>
          <a:prstGeom xmlns:a="http://schemas.openxmlformats.org/drawingml/2006/main" prst="rect">
            <a:avLst/>
          </a:prstGeom>
        </p:spPr>
      </p:pic>
    </p:spTree>
    <p:extLst>
      <p:ext uri="{BB962C8B-B14F-4D97-AF65-F5344CB8AC3E}">
        <p14:creationId xmlns:p14="http://schemas.microsoft.com/office/powerpoint/2010/main" val="1107939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1A3F16-7734-40B8-88AD-F2EE56362C33}"/>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TASK 1 · TOOL NAMES AND OUTPUTS</a:t>
            </a:r>
          </a:p>
        </p:txBody>
      </p:sp>
      <p:sp>
        <p:nvSpPr>
          <p:cNvPr id="2" name="">
            <a:extLst xmlns:a="http://schemas.openxmlformats.org/drawingml/2006/main">
              <a:ext uri="{FF2B5EF4-FFF2-40B4-BE49-F238E27FC236}">
                <a16:creationId xmlns:a16="http://schemas.microsoft.com/office/drawing/2014/main" id="{C57374D2-5170-49DF-A002-FF5D6CDF2859}"/>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3000" b="1">
                <a:solidFill>
                  <a:srgbClr val="111111"/>
                </a:solidFill>
                <a:latin typeface="Arial"/>
                <a:ea typeface="Arial"/>
                <a:cs typeface="Arial"/>
              </a:defRPr>
            </a:pPr>
            <a:r>
              <a:t>Eight MCP operations form a visible evidence chain</a:t>
            </a:r>
          </a:p>
        </p:txBody>
      </p:sp>
      <p:sp>
        <p:nvSpPr>
          <p:cNvPr id="3" name="">
            <a:extLst xmlns:a="http://schemas.openxmlformats.org/drawingml/2006/main">
              <a:ext uri="{FF2B5EF4-FFF2-40B4-BE49-F238E27FC236}">
                <a16:creationId xmlns:a16="http://schemas.microsoft.com/office/drawing/2014/main" id="{9E861205-C547-4389-ACDB-8FD6EABF916F}"/>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C007D744-8480-4734-98F4-7A25595AF369}"/>
              </a:ext>
            </a:extLst>
          </p:cNvPr>
          <p:cNvSpPr>
            <a:spLocks xmlns:a="http://schemas.openxmlformats.org/drawingml/2006/main" noGrp="1"/>
          </p:cNvSpPr>
          <p:nvPr/>
        </p:nvSpPr>
        <p:spPr>
          <a:xfrm xmlns:a="http://schemas.openxmlformats.org/drawingml/2006/main">
            <a:off x="400050" y="1466850"/>
            <a:ext cx="7143750" cy="46672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EE42CB1C-31EF-4C8D-990E-1F96894D954B}"/>
              </a:ext>
            </a:extLst>
          </p:cNvPr>
          <p:cNvSpPr>
            <a:spLocks xmlns:a="http://schemas.openxmlformats.org/drawingml/2006/main" noGrp="1"/>
          </p:cNvSpPr>
          <p:nvPr/>
        </p:nvSpPr>
        <p:spPr>
          <a:xfrm xmlns:a="http://schemas.openxmlformats.org/drawingml/2006/main">
            <a:off x="7962900" y="1524000"/>
            <a:ext cx="30480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0969DA"/>
                </a:solidFill>
                <a:latin typeface="Arial"/>
                <a:ea typeface="Arial"/>
                <a:cs typeface="Arial"/>
              </a:defRPr>
            </a:pPr>
            <a:r>
              <a:t>1</a:t>
            </a:r>
          </a:p>
        </p:txBody>
      </p:sp>
      <p:sp>
        <p:nvSpPr>
          <p:cNvPr id="6" name="">
            <a:extLst xmlns:a="http://schemas.openxmlformats.org/drawingml/2006/main">
              <a:ext uri="{FF2B5EF4-FFF2-40B4-BE49-F238E27FC236}">
                <a16:creationId xmlns:a16="http://schemas.microsoft.com/office/drawing/2014/main" id="{F2BDC3D3-7CA3-447C-9362-E5A7BDC2F4BE}"/>
              </a:ext>
            </a:extLst>
          </p:cNvPr>
          <p:cNvSpPr>
            <a:spLocks xmlns:a="http://schemas.openxmlformats.org/drawingml/2006/main" noGrp="1"/>
          </p:cNvSpPr>
          <p:nvPr/>
        </p:nvSpPr>
        <p:spPr>
          <a:xfrm xmlns:a="http://schemas.openxmlformats.org/drawingml/2006/main">
            <a:off x="8362950" y="1524000"/>
            <a:ext cx="30670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1">
                <a:solidFill>
                  <a:srgbClr val="111111"/>
                </a:solidFill>
                <a:latin typeface="Consolas"/>
                <a:ea typeface="Consolas"/>
                <a:cs typeface="Consolas"/>
              </a:defRPr>
            </a:pPr>
            <a:r>
              <a:t>mcp_discover_tools</a:t>
            </a:r>
          </a:p>
        </p:txBody>
      </p:sp>
      <p:sp>
        <p:nvSpPr>
          <p:cNvPr id="7" name="">
            <a:extLst xmlns:a="http://schemas.openxmlformats.org/drawingml/2006/main">
              <a:ext uri="{FF2B5EF4-FFF2-40B4-BE49-F238E27FC236}">
                <a16:creationId xmlns:a16="http://schemas.microsoft.com/office/drawing/2014/main" id="{76FD2CBE-6456-4E69-9E73-97011FB61861}"/>
              </a:ext>
            </a:extLst>
          </p:cNvPr>
          <p:cNvSpPr>
            <a:spLocks xmlns:a="http://schemas.openxmlformats.org/drawingml/2006/main" noGrp="1"/>
          </p:cNvSpPr>
          <p:nvPr/>
        </p:nvSpPr>
        <p:spPr>
          <a:xfrm xmlns:a="http://schemas.openxmlformats.org/drawingml/2006/main">
            <a:off x="8362950" y="1800225"/>
            <a:ext cx="30670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8 discoverable tools</a:t>
            </a:r>
          </a:p>
        </p:txBody>
      </p:sp>
      <p:sp>
        <p:nvSpPr>
          <p:cNvPr id="8" name="">
            <a:extLst xmlns:a="http://schemas.openxmlformats.org/drawingml/2006/main">
              <a:ext uri="{FF2B5EF4-FFF2-40B4-BE49-F238E27FC236}">
                <a16:creationId xmlns:a16="http://schemas.microsoft.com/office/drawing/2014/main" id="{FAA33088-E742-4BCA-B2CC-E45E6EEBE478}"/>
              </a:ext>
            </a:extLst>
          </p:cNvPr>
          <p:cNvSpPr>
            <a:spLocks xmlns:a="http://schemas.openxmlformats.org/drawingml/2006/main" noGrp="1"/>
          </p:cNvSpPr>
          <p:nvPr/>
        </p:nvSpPr>
        <p:spPr>
          <a:xfrm xmlns:a="http://schemas.openxmlformats.org/drawingml/2006/main">
            <a:off x="7962900" y="2181225"/>
            <a:ext cx="30480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0969DA"/>
                </a:solidFill>
                <a:latin typeface="Arial"/>
                <a:ea typeface="Arial"/>
                <a:cs typeface="Arial"/>
              </a:defRPr>
            </a:pPr>
            <a:r>
              <a:t>2</a:t>
            </a:r>
          </a:p>
        </p:txBody>
      </p:sp>
      <p:sp>
        <p:nvSpPr>
          <p:cNvPr id="9" name="">
            <a:extLst xmlns:a="http://schemas.openxmlformats.org/drawingml/2006/main">
              <a:ext uri="{FF2B5EF4-FFF2-40B4-BE49-F238E27FC236}">
                <a16:creationId xmlns:a16="http://schemas.microsoft.com/office/drawing/2014/main" id="{218F22BA-259F-4897-BA10-C261A90F6EE1}"/>
              </a:ext>
            </a:extLst>
          </p:cNvPr>
          <p:cNvSpPr>
            <a:spLocks xmlns:a="http://schemas.openxmlformats.org/drawingml/2006/main" noGrp="1"/>
          </p:cNvSpPr>
          <p:nvPr/>
        </p:nvSpPr>
        <p:spPr>
          <a:xfrm xmlns:a="http://schemas.openxmlformats.org/drawingml/2006/main">
            <a:off x="8362950" y="2181225"/>
            <a:ext cx="30670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lookup_employee_profile</a:t>
            </a:r>
          </a:p>
        </p:txBody>
      </p:sp>
      <p:sp>
        <p:nvSpPr>
          <p:cNvPr id="10" name="">
            <a:extLst xmlns:a="http://schemas.openxmlformats.org/drawingml/2006/main">
              <a:ext uri="{FF2B5EF4-FFF2-40B4-BE49-F238E27FC236}">
                <a16:creationId xmlns:a16="http://schemas.microsoft.com/office/drawing/2014/main" id="{1017B326-03DD-4C56-8366-A39BF14D4ABD}"/>
              </a:ext>
            </a:extLst>
          </p:cNvPr>
          <p:cNvSpPr>
            <a:spLocks xmlns:a="http://schemas.openxmlformats.org/drawingml/2006/main" noGrp="1"/>
          </p:cNvSpPr>
          <p:nvPr/>
        </p:nvSpPr>
        <p:spPr>
          <a:xfrm xmlns:a="http://schemas.openxmlformats.org/drawingml/2006/main">
            <a:off x="8362950" y="2457450"/>
            <a:ext cx="30670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employee found</a:t>
            </a:r>
          </a:p>
        </p:txBody>
      </p:sp>
      <p:sp>
        <p:nvSpPr>
          <p:cNvPr id="11" name="">
            <a:extLst xmlns:a="http://schemas.openxmlformats.org/drawingml/2006/main">
              <a:ext uri="{FF2B5EF4-FFF2-40B4-BE49-F238E27FC236}">
                <a16:creationId xmlns:a16="http://schemas.microsoft.com/office/drawing/2014/main" id="{A1504D21-97F6-46F8-A056-3F3501220AB4}"/>
              </a:ext>
            </a:extLst>
          </p:cNvPr>
          <p:cNvSpPr>
            <a:spLocks xmlns:a="http://schemas.openxmlformats.org/drawingml/2006/main" noGrp="1"/>
          </p:cNvSpPr>
          <p:nvPr/>
        </p:nvSpPr>
        <p:spPr>
          <a:xfrm xmlns:a="http://schemas.openxmlformats.org/drawingml/2006/main">
            <a:off x="7962900" y="2838450"/>
            <a:ext cx="30480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0969DA"/>
                </a:solidFill>
                <a:latin typeface="Arial"/>
                <a:ea typeface="Arial"/>
                <a:cs typeface="Arial"/>
              </a:defRPr>
            </a:pPr>
            <a:r>
              <a:t>3</a:t>
            </a:r>
          </a:p>
        </p:txBody>
      </p:sp>
      <p:sp>
        <p:nvSpPr>
          <p:cNvPr id="12" name="">
            <a:extLst xmlns:a="http://schemas.openxmlformats.org/drawingml/2006/main">
              <a:ext uri="{FF2B5EF4-FFF2-40B4-BE49-F238E27FC236}">
                <a16:creationId xmlns:a16="http://schemas.microsoft.com/office/drawing/2014/main" id="{71D1BBF3-702B-4FBF-B2B3-11FBDD348E0C}"/>
              </a:ext>
            </a:extLst>
          </p:cNvPr>
          <p:cNvSpPr>
            <a:spLocks xmlns:a="http://schemas.openxmlformats.org/drawingml/2006/main" noGrp="1"/>
          </p:cNvSpPr>
          <p:nvPr/>
        </p:nvSpPr>
        <p:spPr>
          <a:xfrm xmlns:a="http://schemas.openxmlformats.org/drawingml/2006/main">
            <a:off x="8362950" y="2838450"/>
            <a:ext cx="30670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search_policy_documents</a:t>
            </a:r>
          </a:p>
        </p:txBody>
      </p:sp>
      <p:sp>
        <p:nvSpPr>
          <p:cNvPr id="13" name="">
            <a:extLst xmlns:a="http://schemas.openxmlformats.org/drawingml/2006/main">
              <a:ext uri="{FF2B5EF4-FFF2-40B4-BE49-F238E27FC236}">
                <a16:creationId xmlns:a16="http://schemas.microsoft.com/office/drawing/2014/main" id="{F755836A-5BF4-4093-BC72-ECD8F226BDEC}"/>
              </a:ext>
            </a:extLst>
          </p:cNvPr>
          <p:cNvSpPr>
            <a:spLocks xmlns:a="http://schemas.openxmlformats.org/drawingml/2006/main" noGrp="1"/>
          </p:cNvSpPr>
          <p:nvPr/>
        </p:nvSpPr>
        <p:spPr>
          <a:xfrm xmlns:a="http://schemas.openxmlformats.org/drawingml/2006/main">
            <a:off x="8362950" y="3114675"/>
            <a:ext cx="30670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8 ranked policy chunks</a:t>
            </a:r>
          </a:p>
        </p:txBody>
      </p:sp>
      <p:sp>
        <p:nvSpPr>
          <p:cNvPr id="14" name="">
            <a:extLst xmlns:a="http://schemas.openxmlformats.org/drawingml/2006/main">
              <a:ext uri="{FF2B5EF4-FFF2-40B4-BE49-F238E27FC236}">
                <a16:creationId xmlns:a16="http://schemas.microsoft.com/office/drawing/2014/main" id="{81FA1F12-BBCC-41B5-961E-AC83E095B97D}"/>
              </a:ext>
            </a:extLst>
          </p:cNvPr>
          <p:cNvSpPr>
            <a:spLocks xmlns:a="http://schemas.openxmlformats.org/drawingml/2006/main" noGrp="1"/>
          </p:cNvSpPr>
          <p:nvPr/>
        </p:nvSpPr>
        <p:spPr>
          <a:xfrm xmlns:a="http://schemas.openxmlformats.org/drawingml/2006/main">
            <a:off x="7962900" y="3495675"/>
            <a:ext cx="4381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0969DA"/>
                </a:solidFill>
                <a:latin typeface="Arial"/>
                <a:ea typeface="Arial"/>
                <a:cs typeface="Arial"/>
              </a:defRPr>
            </a:pPr>
            <a:r>
              <a:t>4–7</a:t>
            </a:r>
          </a:p>
        </p:txBody>
      </p:sp>
      <p:sp>
        <p:nvSpPr>
          <p:cNvPr id="15" name="">
            <a:extLst xmlns:a="http://schemas.openxmlformats.org/drawingml/2006/main">
              <a:ext uri="{FF2B5EF4-FFF2-40B4-BE49-F238E27FC236}">
                <a16:creationId xmlns:a16="http://schemas.microsoft.com/office/drawing/2014/main" id="{9AC4A43F-21FA-4B9B-9FE0-04920A232D9D}"/>
              </a:ext>
            </a:extLst>
          </p:cNvPr>
          <p:cNvSpPr>
            <a:spLocks xmlns:a="http://schemas.openxmlformats.org/drawingml/2006/main" noGrp="1"/>
          </p:cNvSpPr>
          <p:nvPr/>
        </p:nvSpPr>
        <p:spPr>
          <a:xfrm xmlns:a="http://schemas.openxmlformats.org/drawingml/2006/main">
            <a:off x="8496300" y="3495675"/>
            <a:ext cx="29337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get_policy_section ×4</a:t>
            </a:r>
          </a:p>
        </p:txBody>
      </p:sp>
      <p:sp>
        <p:nvSpPr>
          <p:cNvPr id="16" name="">
            <a:extLst xmlns:a="http://schemas.openxmlformats.org/drawingml/2006/main">
              <a:ext uri="{FF2B5EF4-FFF2-40B4-BE49-F238E27FC236}">
                <a16:creationId xmlns:a16="http://schemas.microsoft.com/office/drawing/2014/main" id="{DB1A1175-CCB3-4382-8EC3-2EA48060F143}"/>
              </a:ext>
            </a:extLst>
          </p:cNvPr>
          <p:cNvSpPr>
            <a:spLocks xmlns:a="http://schemas.openxmlformats.org/drawingml/2006/main" noGrp="1"/>
          </p:cNvSpPr>
          <p:nvPr/>
        </p:nvSpPr>
        <p:spPr>
          <a:xfrm xmlns:a="http://schemas.openxmlformats.org/drawingml/2006/main">
            <a:off x="8496300" y="3771900"/>
            <a:ext cx="2933700" cy="4572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one authoritative chunk each</a:t>
            </a:r>
          </a:p>
        </p:txBody>
      </p:sp>
      <p:sp>
        <p:nvSpPr>
          <p:cNvPr id="17" name="">
            <a:extLst xmlns:a="http://schemas.openxmlformats.org/drawingml/2006/main">
              <a:ext uri="{FF2B5EF4-FFF2-40B4-BE49-F238E27FC236}">
                <a16:creationId xmlns:a16="http://schemas.microsoft.com/office/drawing/2014/main" id="{2B09004A-98A3-441C-83A3-86652455C950}"/>
              </a:ext>
            </a:extLst>
          </p:cNvPr>
          <p:cNvSpPr>
            <a:spLocks xmlns:a="http://schemas.openxmlformats.org/drawingml/2006/main" noGrp="1"/>
          </p:cNvSpPr>
          <p:nvPr/>
        </p:nvSpPr>
        <p:spPr>
          <a:xfrm xmlns:a="http://schemas.openxmlformats.org/drawingml/2006/main">
            <a:off x="7962900" y="4352925"/>
            <a:ext cx="30480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A7F37"/>
                </a:solidFill>
                <a:latin typeface="Arial"/>
                <a:ea typeface="Arial"/>
                <a:cs typeface="Arial"/>
              </a:defRPr>
            </a:pPr>
            <a:r>
              <a:t>8</a:t>
            </a:r>
          </a:p>
        </p:txBody>
      </p:sp>
      <p:sp>
        <p:nvSpPr>
          <p:cNvPr id="18" name="">
            <a:extLst xmlns:a="http://schemas.openxmlformats.org/drawingml/2006/main">
              <a:ext uri="{FF2B5EF4-FFF2-40B4-BE49-F238E27FC236}">
                <a16:creationId xmlns:a16="http://schemas.microsoft.com/office/drawing/2014/main" id="{3B936C2A-9DEC-4373-A133-3430CA9BF199}"/>
              </a:ext>
            </a:extLst>
          </p:cNvPr>
          <p:cNvSpPr>
            <a:spLocks xmlns:a="http://schemas.openxmlformats.org/drawingml/2006/main" noGrp="1"/>
          </p:cNvSpPr>
          <p:nvPr/>
        </p:nvSpPr>
        <p:spPr>
          <a:xfrm xmlns:a="http://schemas.openxmlformats.org/drawingml/2006/main">
            <a:off x="8362950" y="4352925"/>
            <a:ext cx="30670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check_policy_compliance</a:t>
            </a:r>
          </a:p>
        </p:txBody>
      </p:sp>
      <p:sp>
        <p:nvSpPr>
          <p:cNvPr id="19" name="">
            <a:extLst xmlns:a="http://schemas.openxmlformats.org/drawingml/2006/main">
              <a:ext uri="{FF2B5EF4-FFF2-40B4-BE49-F238E27FC236}">
                <a16:creationId xmlns:a16="http://schemas.microsoft.com/office/drawing/2014/main" id="{BEA0858C-120F-458E-8B5A-460AC431A789}"/>
              </a:ext>
            </a:extLst>
          </p:cNvPr>
          <p:cNvSpPr>
            <a:spLocks xmlns:a="http://schemas.openxmlformats.org/drawingml/2006/main" noGrp="1"/>
          </p:cNvSpPr>
          <p:nvPr/>
        </p:nvSpPr>
        <p:spPr>
          <a:xfrm xmlns:a="http://schemas.openxmlformats.org/drawingml/2006/main">
            <a:off x="8362950" y="4648200"/>
            <a:ext cx="3067050" cy="619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conditionally_eligible / international_exceptional</a:t>
            </a:r>
          </a:p>
        </p:txBody>
      </p:sp>
      <p:sp>
        <p:nvSpPr>
          <p:cNvPr id="20" name="">
            <a:extLst xmlns:a="http://schemas.openxmlformats.org/drawingml/2006/main">
              <a:ext uri="{FF2B5EF4-FFF2-40B4-BE49-F238E27FC236}">
                <a16:creationId xmlns:a16="http://schemas.microsoft.com/office/drawing/2014/main" id="{7714CFDD-9277-481D-B362-F9DA44CCA431}"/>
              </a:ext>
            </a:extLst>
          </p:cNvPr>
          <p:cNvSpPr>
            <a:spLocks xmlns:a="http://schemas.openxmlformats.org/drawingml/2006/main" noGrp="1"/>
          </p:cNvSpPr>
          <p:nvPr/>
        </p:nvSpPr>
        <p:spPr>
          <a:xfrm xmlns:a="http://schemas.openxmlformats.org/drawingml/2006/main">
            <a:off x="7962900" y="5514975"/>
            <a:ext cx="3467100" cy="619125"/>
          </a:xfrm>
          <a:prstGeom xmlns:a="http://schemas.openxmlformats.org/drawingml/2006/main" prst="rect">
            <a:avLst/>
          </a:prstGeom>
          <a:solidFill xmlns:a="http://schemas.openxmlformats.org/drawingml/2006/main">
            <a:srgbClr val="EAF2FF"/>
          </a:solidFill>
        </p:spPr>
      </p:sp>
      <p:sp>
        <p:nvSpPr>
          <p:cNvPr id="21" name="">
            <a:extLst xmlns:a="http://schemas.openxmlformats.org/drawingml/2006/main">
              <a:ext uri="{FF2B5EF4-FFF2-40B4-BE49-F238E27FC236}">
                <a16:creationId xmlns:a16="http://schemas.microsoft.com/office/drawing/2014/main" id="{A3AEF2BD-CB11-4FE9-8EC7-BAAE7D5E5D35}"/>
              </a:ext>
            </a:extLst>
          </p:cNvPr>
          <p:cNvSpPr>
            <a:spLocks xmlns:a="http://schemas.openxmlformats.org/drawingml/2006/main" noGrp="1"/>
          </p:cNvSpPr>
          <p:nvPr/>
        </p:nvSpPr>
        <p:spPr>
          <a:xfrm xmlns:a="http://schemas.openxmlformats.org/drawingml/2006/main">
            <a:off x="8153400" y="5629275"/>
            <a:ext cx="3086100" cy="428625"/>
          </a:xfrm>
          <a:prstGeom xmlns:a="http://schemas.openxmlformats.org/drawingml/2006/main" prst="rect">
            <a:avLst/>
          </a:prstGeom>
        </p:spPr>
        <p:txBody>
          <a:bodyPr xmlns:a="http://schemas.openxmlformats.org/drawingml/2006/main" spcFirstLastPara="1" lIns="0" tIns="0" rIns="0" bIns="0" anchor="t">
            <a:normAutofit fontScale="99503"/>
          </a:bodyPr>
          <a:lstStyle xmlns:a="http://schemas.openxmlformats.org/drawingml/2006/main"/>
          <a:p xmlns:a="http://schemas.openxmlformats.org/drawingml/2006/main">
            <a:pPr algn="l">
              <a:defRPr sz="1275" b="1">
                <a:solidFill>
                  <a:srgbClr val="0969DA"/>
                </a:solidFill>
                <a:latin typeface="Arial"/>
                <a:ea typeface="Arial"/>
                <a:cs typeface="Arial"/>
              </a:defRPr>
            </a:pPr>
            <a:r>
              <a:t>Visible trace: success state, result summary, duration, sanitized arguments</a:t>
            </a:r>
          </a:p>
        </p:txBody>
      </p:sp>
      <p:sp>
        <p:nvSpPr>
          <p:cNvPr id="22" name="">
            <a:extLst xmlns:a="http://schemas.openxmlformats.org/drawingml/2006/main">
              <a:ext uri="{FF2B5EF4-FFF2-40B4-BE49-F238E27FC236}">
                <a16:creationId xmlns:a16="http://schemas.microsoft.com/office/drawing/2014/main" id="{DEA8E6E8-29C2-4F1E-9CD3-4D907B53FA5C}"/>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04</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f6d2bce7e97472b"/>
          <a:stretch xmlns:a="http://schemas.openxmlformats.org/drawingml/2006/main"/>
        </p:blipFill>
        <p:spPr>
          <a:xfrm xmlns:a="http://schemas.openxmlformats.org/drawingml/2006/main">
            <a:off x="552450" y="1877358"/>
            <a:ext cx="6838950" cy="3846234"/>
          </a:xfrm>
          <a:prstGeom xmlns:a="http://schemas.openxmlformats.org/drawingml/2006/main" prst="rect">
            <a:avLst/>
          </a:prstGeom>
        </p:spPr>
      </p:pic>
    </p:spTree>
    <p:extLst>
      <p:ext uri="{BB962C8B-B14F-4D97-AF65-F5344CB8AC3E}">
        <p14:creationId xmlns:p14="http://schemas.microsoft.com/office/powerpoint/2010/main" val="18951806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C086C1-479E-48B4-9F69-3733F62C0680}"/>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TASK 1 · ARGUMENTS, OUTPUTS, CITATIONS</a:t>
            </a:r>
          </a:p>
        </p:txBody>
      </p:sp>
      <p:sp>
        <p:nvSpPr>
          <p:cNvPr id="2" name="">
            <a:extLst xmlns:a="http://schemas.openxmlformats.org/drawingml/2006/main">
              <a:ext uri="{FF2B5EF4-FFF2-40B4-BE49-F238E27FC236}">
                <a16:creationId xmlns:a16="http://schemas.microsoft.com/office/drawing/2014/main" id="{FC39292E-0A0C-4B75-9548-C5051EE38144}"/>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82009"/>
          </a:bodyPr>
          <a:lstStyle xmlns:a="http://schemas.openxmlformats.org/drawingml/2006/main"/>
          <a:p xmlns:a="http://schemas.openxmlformats.org/drawingml/2006/main">
            <a:pPr algn="l">
              <a:defRPr sz="3000" b="1">
                <a:solidFill>
                  <a:srgbClr val="111111"/>
                </a:solidFill>
                <a:latin typeface="Arial"/>
                <a:ea typeface="Arial"/>
                <a:cs typeface="Arial"/>
              </a:defRPr>
            </a:pPr>
            <a:r>
              <a:t>Arguments bind the decision to one employee, destination, and duration</a:t>
            </a:r>
          </a:p>
        </p:txBody>
      </p:sp>
      <p:sp>
        <p:nvSpPr>
          <p:cNvPr id="3" name="">
            <a:extLst xmlns:a="http://schemas.openxmlformats.org/drawingml/2006/main">
              <a:ext uri="{FF2B5EF4-FFF2-40B4-BE49-F238E27FC236}">
                <a16:creationId xmlns:a16="http://schemas.microsoft.com/office/drawing/2014/main" id="{E52075BB-100D-4493-9D83-EA33BDD3F2FD}"/>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F5118C17-66D0-4D73-BC86-802D439E0CD0}"/>
              </a:ext>
            </a:extLst>
          </p:cNvPr>
          <p:cNvSpPr>
            <a:spLocks xmlns:a="http://schemas.openxmlformats.org/drawingml/2006/main" noGrp="1"/>
          </p:cNvSpPr>
          <p:nvPr/>
        </p:nvSpPr>
        <p:spPr>
          <a:xfrm xmlns:a="http://schemas.openxmlformats.org/drawingml/2006/main">
            <a:off x="400050" y="1466850"/>
            <a:ext cx="5457825" cy="331470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733D11F2-0A3B-4AE8-BC16-E40F4552FD80}"/>
              </a:ext>
            </a:extLst>
          </p:cNvPr>
          <p:cNvSpPr>
            <a:spLocks xmlns:a="http://schemas.openxmlformats.org/drawingml/2006/main" noGrp="1"/>
          </p:cNvSpPr>
          <p:nvPr/>
        </p:nvSpPr>
        <p:spPr>
          <a:xfrm xmlns:a="http://schemas.openxmlformats.org/drawingml/2006/main">
            <a:off x="6334125" y="1466850"/>
            <a:ext cx="5457825" cy="3314700"/>
          </a:xfrm>
          <a:prstGeom xmlns:a="http://schemas.openxmlformats.org/drawingml/2006/main" prst="rect">
            <a:avLst/>
          </a:prstGeom>
          <a:solidFill xmlns:a="http://schemas.openxmlformats.org/drawingml/2006/main">
            <a:srgbClr val="F7F7F7"/>
          </a:solidFill>
        </p:spPr>
      </p:sp>
      <p:sp>
        <p:nvSpPr>
          <p:cNvPr id="6" name="">
            <a:extLst xmlns:a="http://schemas.openxmlformats.org/drawingml/2006/main">
              <a:ext uri="{FF2B5EF4-FFF2-40B4-BE49-F238E27FC236}">
                <a16:creationId xmlns:a16="http://schemas.microsoft.com/office/drawing/2014/main" id="{F65474FE-EB27-4BA5-85B2-CA12B16C56A9}"/>
              </a:ext>
            </a:extLst>
          </p:cNvPr>
          <p:cNvSpPr>
            <a:spLocks xmlns:a="http://schemas.openxmlformats.org/drawingml/2006/main" noGrp="1"/>
          </p:cNvSpPr>
          <p:nvPr/>
        </p:nvSpPr>
        <p:spPr>
          <a:xfrm xmlns:a="http://schemas.openxmlformats.org/drawingml/2006/main">
            <a:off x="514350" y="4895850"/>
            <a:ext cx="52197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1">
                <a:solidFill>
                  <a:srgbClr val="0969DA"/>
                </a:solidFill>
                <a:latin typeface="Arial"/>
                <a:ea typeface="Arial"/>
                <a:cs typeface="Arial"/>
              </a:defRPr>
            </a:pPr>
            <a:r>
              <a:t>Lookup + retrieval arguments</a:t>
            </a:r>
          </a:p>
        </p:txBody>
      </p:sp>
      <p:sp>
        <p:nvSpPr>
          <p:cNvPr id="7" name="">
            <a:extLst xmlns:a="http://schemas.openxmlformats.org/drawingml/2006/main">
              <a:ext uri="{FF2B5EF4-FFF2-40B4-BE49-F238E27FC236}">
                <a16:creationId xmlns:a16="http://schemas.microsoft.com/office/drawing/2014/main" id="{E179B1CE-AF5B-4B67-A004-8D223EA41946}"/>
              </a:ext>
            </a:extLst>
          </p:cNvPr>
          <p:cNvSpPr>
            <a:spLocks xmlns:a="http://schemas.openxmlformats.org/drawingml/2006/main" noGrp="1"/>
          </p:cNvSpPr>
          <p:nvPr/>
        </p:nvSpPr>
        <p:spPr>
          <a:xfrm xmlns:a="http://schemas.openxmlformats.org/drawingml/2006/main">
            <a:off x="514350" y="5219700"/>
            <a:ext cx="5219700" cy="5810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111111"/>
                </a:solidFill>
                <a:latin typeface="Consolas"/>
                <a:ea typeface="Consolas"/>
                <a:cs typeface="Consolas"/>
              </a:defRPr>
            </a:pPr>
            <a:r>
              <a:t>employee_id = E-1007
query = Germany / six weeks</a:t>
            </a:r>
          </a:p>
        </p:txBody>
      </p:sp>
      <p:sp>
        <p:nvSpPr>
          <p:cNvPr id="8" name="">
            <a:extLst xmlns:a="http://schemas.openxmlformats.org/drawingml/2006/main">
              <a:ext uri="{FF2B5EF4-FFF2-40B4-BE49-F238E27FC236}">
                <a16:creationId xmlns:a16="http://schemas.microsoft.com/office/drawing/2014/main" id="{9662E3DB-6151-428E-B921-0E8A3EAA7A75}"/>
              </a:ext>
            </a:extLst>
          </p:cNvPr>
          <p:cNvSpPr>
            <a:spLocks xmlns:a="http://schemas.openxmlformats.org/drawingml/2006/main" noGrp="1"/>
          </p:cNvSpPr>
          <p:nvPr/>
        </p:nvSpPr>
        <p:spPr>
          <a:xfrm xmlns:a="http://schemas.openxmlformats.org/drawingml/2006/main">
            <a:off x="6448425" y="4895850"/>
            <a:ext cx="52197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1">
                <a:solidFill>
                  <a:srgbClr val="1A7F37"/>
                </a:solidFill>
                <a:latin typeface="Arial"/>
                <a:ea typeface="Arial"/>
                <a:cs typeface="Arial"/>
              </a:defRPr>
            </a:pPr>
            <a:r>
              <a:t>Compliance arguments</a:t>
            </a:r>
          </a:p>
        </p:txBody>
      </p:sp>
      <p:sp>
        <p:nvSpPr>
          <p:cNvPr id="9" name="">
            <a:extLst xmlns:a="http://schemas.openxmlformats.org/drawingml/2006/main">
              <a:ext uri="{FF2B5EF4-FFF2-40B4-BE49-F238E27FC236}">
                <a16:creationId xmlns:a16="http://schemas.microsoft.com/office/drawing/2014/main" id="{C653600E-319C-40B8-A848-F32FEA12FCDF}"/>
              </a:ext>
            </a:extLst>
          </p:cNvPr>
          <p:cNvSpPr>
            <a:spLocks xmlns:a="http://schemas.openxmlformats.org/drawingml/2006/main" noGrp="1"/>
          </p:cNvSpPr>
          <p:nvPr/>
        </p:nvSpPr>
        <p:spPr>
          <a:xfrm xmlns:a="http://schemas.openxmlformats.org/drawingml/2006/main">
            <a:off x="6448425" y="5219700"/>
            <a:ext cx="5219700" cy="8001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111111"/>
                </a:solidFill>
                <a:latin typeface="Consolas"/>
                <a:ea typeface="Consolas"/>
                <a:cs typeface="Consolas"/>
              </a:defRPr>
            </a:pPr>
            <a:r>
              <a:t>workflow = international_remote_work
destination_country_code = DE
duration_business_days = 30</a:t>
            </a:r>
          </a:p>
        </p:txBody>
      </p:sp>
      <p:sp>
        <p:nvSpPr>
          <p:cNvPr id="10" name="">
            <a:extLst xmlns:a="http://schemas.openxmlformats.org/drawingml/2006/main">
              <a:ext uri="{FF2B5EF4-FFF2-40B4-BE49-F238E27FC236}">
                <a16:creationId xmlns:a16="http://schemas.microsoft.com/office/drawing/2014/main" id="{9E6A87BE-010D-40C9-A8E9-F419ACD06D9C}"/>
              </a:ext>
            </a:extLst>
          </p:cNvPr>
          <p:cNvSpPr>
            <a:spLocks xmlns:a="http://schemas.openxmlformats.org/drawingml/2006/main" noGrp="1"/>
          </p:cNvSpPr>
          <p:nvPr/>
        </p:nvSpPr>
        <p:spPr>
          <a:xfrm xmlns:a="http://schemas.openxmlformats.org/drawingml/2006/main">
            <a:off x="400050" y="6191250"/>
            <a:ext cx="10763250" cy="3238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0">
                <a:solidFill>
                  <a:srgbClr val="555555"/>
                </a:solidFill>
                <a:latin typeface="Arial"/>
                <a:ea typeface="Arial"/>
                <a:cs typeface="Arial"/>
              </a:defRPr>
            </a:pPr>
            <a:r>
              <a:t>Exact policy calls: POL-INT-001/INT-5, POL-INT-001/INT-13, POL-RWK-001/RWK-5, POL-SEC-001/SEC-8</a:t>
            </a:r>
          </a:p>
        </p:txBody>
      </p:sp>
      <p:sp>
        <p:nvSpPr>
          <p:cNvPr id="11" name="">
            <a:extLst xmlns:a="http://schemas.openxmlformats.org/drawingml/2006/main">
              <a:ext uri="{FF2B5EF4-FFF2-40B4-BE49-F238E27FC236}">
                <a16:creationId xmlns:a16="http://schemas.microsoft.com/office/drawing/2014/main" id="{8F6B2463-B9E0-451F-9256-AC0FA89D1E9C}"/>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a5945da742640a3"/>
          <a:stretch xmlns:a="http://schemas.openxmlformats.org/drawingml/2006/main"/>
        </p:blipFill>
        <p:spPr>
          <a:xfrm xmlns:a="http://schemas.openxmlformats.org/drawingml/2006/main">
            <a:off x="552450" y="1675166"/>
            <a:ext cx="5153025" cy="2898068"/>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ddd962648304e30"/>
          <a:stretch xmlns:a="http://schemas.openxmlformats.org/drawingml/2006/main"/>
        </p:blipFill>
        <p:spPr>
          <a:xfrm xmlns:a="http://schemas.openxmlformats.org/drawingml/2006/main">
            <a:off x="6486525" y="1675166"/>
            <a:ext cx="5153025" cy="2898068"/>
          </a:xfrm>
          <a:prstGeom xmlns:a="http://schemas.openxmlformats.org/drawingml/2006/main" prst="rect">
            <a:avLst/>
          </a:prstGeom>
        </p:spPr>
      </p:pic>
    </p:spTree>
    <p:extLst>
      <p:ext uri="{BB962C8B-B14F-4D97-AF65-F5344CB8AC3E}">
        <p14:creationId xmlns:p14="http://schemas.microsoft.com/office/powerpoint/2010/main" val="20019548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B7D320-43B9-4790-86A3-576022315C29}"/>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92325"/>
          </a:bodyPr>
          <a:lstStyle xmlns:a="http://schemas.openxmlformats.org/drawingml/2006/main"/>
          <a:p xmlns:a="http://schemas.openxmlformats.org/drawingml/2006/main">
            <a:pPr algn="l">
              <a:defRPr sz="1050" b="1">
                <a:solidFill>
                  <a:srgbClr val="0969DA"/>
                </a:solidFill>
                <a:latin typeface="Arial"/>
                <a:ea typeface="Arial"/>
                <a:cs typeface="Arial"/>
              </a:defRPr>
            </a:pPr>
            <a:r>
              <a:t>AGENTIC TASK 2 · PTO REQUEST AND MANAGER DRAFT</a:t>
            </a:r>
          </a:p>
        </p:txBody>
      </p:sp>
      <p:sp>
        <p:nvSpPr>
          <p:cNvPr id="2" name="">
            <a:extLst xmlns:a="http://schemas.openxmlformats.org/drawingml/2006/main">
              <a:ext uri="{FF2B5EF4-FFF2-40B4-BE49-F238E27FC236}">
                <a16:creationId xmlns:a16="http://schemas.microsoft.com/office/drawing/2014/main" id="{3B1CE0DB-C631-438B-BCDA-5A4D12C1C045}"/>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2989"/>
          </a:bodyPr>
          <a:lstStyle xmlns:a="http://schemas.openxmlformats.org/drawingml/2006/main"/>
          <a:p xmlns:a="http://schemas.openxmlformats.org/drawingml/2006/main">
            <a:pPr algn="l">
              <a:defRPr sz="3000" b="1">
                <a:solidFill>
                  <a:srgbClr val="111111"/>
                </a:solidFill>
                <a:latin typeface="Arial"/>
                <a:ea typeface="Arial"/>
                <a:cs typeface="Arial"/>
              </a:defRPr>
            </a:pPr>
            <a:r>
              <a:t>Task 2 combines a live balance calculation with policy guidance</a:t>
            </a:r>
          </a:p>
        </p:txBody>
      </p:sp>
      <p:sp>
        <p:nvSpPr>
          <p:cNvPr id="3" name="">
            <a:extLst xmlns:a="http://schemas.openxmlformats.org/drawingml/2006/main">
              <a:ext uri="{FF2B5EF4-FFF2-40B4-BE49-F238E27FC236}">
                <a16:creationId xmlns:a16="http://schemas.microsoft.com/office/drawing/2014/main" id="{11E18EAA-3E61-4F6F-960B-B68A765C74E1}"/>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0328B35F-E1BA-429B-9644-D079A983AC2C}"/>
              </a:ext>
            </a:extLst>
          </p:cNvPr>
          <p:cNvSpPr>
            <a:spLocks xmlns:a="http://schemas.openxmlformats.org/drawingml/2006/main" noGrp="1"/>
          </p:cNvSpPr>
          <p:nvPr/>
        </p:nvSpPr>
        <p:spPr>
          <a:xfrm xmlns:a="http://schemas.openxmlformats.org/drawingml/2006/main">
            <a:off x="4210050" y="1466850"/>
            <a:ext cx="7581900" cy="46672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4DDBA97D-9944-4610-A227-142A68A82D28}"/>
              </a:ext>
            </a:extLst>
          </p:cNvPr>
          <p:cNvSpPr>
            <a:spLocks xmlns:a="http://schemas.openxmlformats.org/drawingml/2006/main" noGrp="1"/>
          </p:cNvSpPr>
          <p:nvPr/>
        </p:nvSpPr>
        <p:spPr>
          <a:xfrm xmlns:a="http://schemas.openxmlformats.org/drawingml/2006/main">
            <a:off x="400050" y="1581150"/>
            <a:ext cx="33909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0969DA"/>
                </a:solidFill>
                <a:latin typeface="Arial"/>
                <a:ea typeface="Arial"/>
                <a:cs typeface="Arial"/>
              </a:defRPr>
            </a:pPr>
            <a:r>
              <a:t>Prompt</a:t>
            </a:r>
          </a:p>
        </p:txBody>
      </p:sp>
      <p:sp>
        <p:nvSpPr>
          <p:cNvPr id="6" name="">
            <a:extLst xmlns:a="http://schemas.openxmlformats.org/drawingml/2006/main">
              <a:ext uri="{FF2B5EF4-FFF2-40B4-BE49-F238E27FC236}">
                <a16:creationId xmlns:a16="http://schemas.microsoft.com/office/drawing/2014/main" id="{D12115F4-8872-484D-853C-2E419FEA103E}"/>
              </a:ext>
            </a:extLst>
          </p:cNvPr>
          <p:cNvSpPr>
            <a:spLocks xmlns:a="http://schemas.openxmlformats.org/drawingml/2006/main" noGrp="1"/>
          </p:cNvSpPr>
          <p:nvPr/>
        </p:nvSpPr>
        <p:spPr>
          <a:xfrm xmlns:a="http://schemas.openxmlformats.org/drawingml/2006/main">
            <a:off x="400050" y="1876425"/>
            <a:ext cx="3390900" cy="6762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E-1021 requests PTO for Sep 21–23, 2026.</a:t>
            </a:r>
          </a:p>
        </p:txBody>
      </p:sp>
      <p:sp>
        <p:nvSpPr>
          <p:cNvPr id="7" name="">
            <a:extLst xmlns:a="http://schemas.openxmlformats.org/drawingml/2006/main">
              <a:ext uri="{FF2B5EF4-FFF2-40B4-BE49-F238E27FC236}">
                <a16:creationId xmlns:a16="http://schemas.microsoft.com/office/drawing/2014/main" id="{BB1AB412-8247-4272-815A-40029A6E05C6}"/>
              </a:ext>
            </a:extLst>
          </p:cNvPr>
          <p:cNvSpPr>
            <a:spLocks xmlns:a="http://schemas.openxmlformats.org/drawingml/2006/main" noGrp="1"/>
          </p:cNvSpPr>
          <p:nvPr/>
        </p:nvSpPr>
        <p:spPr>
          <a:xfrm xmlns:a="http://schemas.openxmlformats.org/drawingml/2006/main">
            <a:off x="400050" y="2781300"/>
            <a:ext cx="3390900" cy="1066800"/>
          </a:xfrm>
          <a:prstGeom xmlns:a="http://schemas.openxmlformats.org/drawingml/2006/main" prst="rect">
            <a:avLst/>
          </a:prstGeom>
          <a:solidFill xmlns:a="http://schemas.openxmlformats.org/drawingml/2006/main">
            <a:srgbClr val="EAF7EF"/>
          </a:solidFill>
        </p:spPr>
      </p:sp>
      <p:sp>
        <p:nvSpPr>
          <p:cNvPr id="8" name="">
            <a:extLst xmlns:a="http://schemas.openxmlformats.org/drawingml/2006/main">
              <a:ext uri="{FF2B5EF4-FFF2-40B4-BE49-F238E27FC236}">
                <a16:creationId xmlns:a16="http://schemas.microsoft.com/office/drawing/2014/main" id="{A2B7970C-86A6-4AC4-BEDE-99C563E11B9E}"/>
              </a:ext>
            </a:extLst>
          </p:cNvPr>
          <p:cNvSpPr>
            <a:spLocks xmlns:a="http://schemas.openxmlformats.org/drawingml/2006/main" noGrp="1"/>
          </p:cNvSpPr>
          <p:nvPr/>
        </p:nvSpPr>
        <p:spPr>
          <a:xfrm xmlns:a="http://schemas.openxmlformats.org/drawingml/2006/main">
            <a:off x="609600" y="2933700"/>
            <a:ext cx="2971800" cy="2095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1A7F37"/>
                </a:solidFill>
                <a:latin typeface="Arial"/>
                <a:ea typeface="Arial"/>
                <a:cs typeface="Arial"/>
              </a:defRPr>
            </a:pPr>
            <a:r>
              <a:t>Structured output</a:t>
            </a:r>
          </a:p>
        </p:txBody>
      </p:sp>
      <p:sp>
        <p:nvSpPr>
          <p:cNvPr id="9" name="">
            <a:extLst xmlns:a="http://schemas.openxmlformats.org/drawingml/2006/main">
              <a:ext uri="{FF2B5EF4-FFF2-40B4-BE49-F238E27FC236}">
                <a16:creationId xmlns:a16="http://schemas.microsoft.com/office/drawing/2014/main" id="{D8AAE433-5986-4724-AD40-88A74156658E}"/>
              </a:ext>
            </a:extLst>
          </p:cNvPr>
          <p:cNvSpPr>
            <a:spLocks xmlns:a="http://schemas.openxmlformats.org/drawingml/2006/main" noGrp="1"/>
          </p:cNvSpPr>
          <p:nvPr/>
        </p:nvSpPr>
        <p:spPr>
          <a:xfrm xmlns:a="http://schemas.openxmlformats.org/drawingml/2006/main">
            <a:off x="609600" y="3257550"/>
            <a:ext cx="2971800" cy="409575"/>
          </a:xfrm>
          <a:prstGeom xmlns:a="http://schemas.openxmlformats.org/drawingml/2006/main" prst="rect">
            <a:avLst/>
          </a:prstGeom>
        </p:spPr>
        <p:txBody>
          <a:bodyPr xmlns:a="http://schemas.openxmlformats.org/drawingml/2006/main" spcFirstLastPara="1" lIns="0" tIns="0" rIns="0" bIns="0" anchor="t">
            <a:normAutofit fontScale="75091"/>
          </a:bodyPr>
          <a:lstStyle xmlns:a="http://schemas.openxmlformats.org/drawingml/2006/main"/>
          <a:p xmlns:a="http://schemas.openxmlformats.org/drawingml/2006/main">
            <a:pPr algn="l">
              <a:defRPr sz="2100" b="1">
                <a:solidFill>
                  <a:srgbClr val="1A7F37"/>
                </a:solidFill>
                <a:latin typeface="Arial"/>
                <a:ea typeface="Arial"/>
                <a:cs typeface="Arial"/>
              </a:defRPr>
            </a:pPr>
            <a:r>
              <a:t>96 h available → 72 h projected</a:t>
            </a:r>
          </a:p>
        </p:txBody>
      </p:sp>
      <p:sp>
        <p:nvSpPr>
          <p:cNvPr id="10" name="">
            <a:extLst xmlns:a="http://schemas.openxmlformats.org/drawingml/2006/main">
              <a:ext uri="{FF2B5EF4-FFF2-40B4-BE49-F238E27FC236}">
                <a16:creationId xmlns:a16="http://schemas.microsoft.com/office/drawing/2014/main" id="{3C8F30D0-03D5-4372-9360-7A74AB14DCD2}"/>
              </a:ext>
            </a:extLst>
          </p:cNvPr>
          <p:cNvSpPr>
            <a:spLocks xmlns:a="http://schemas.openxmlformats.org/drawingml/2006/main" noGrp="1"/>
          </p:cNvSpPr>
          <p:nvPr/>
        </p:nvSpPr>
        <p:spPr>
          <a:xfrm xmlns:a="http://schemas.openxmlformats.org/drawingml/2006/main">
            <a:off x="400050" y="4057650"/>
            <a:ext cx="3390900" cy="5238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0">
                <a:solidFill>
                  <a:srgbClr val="555555"/>
                </a:solidFill>
                <a:latin typeface="Arial"/>
                <a:ea typeface="Arial"/>
                <a:cs typeface="Arial"/>
              </a:defRPr>
            </a:pPr>
            <a:r>
              <a:t>3 workdays / 24 h · balance sufficient</a:t>
            </a:r>
          </a:p>
        </p:txBody>
      </p:sp>
      <p:sp>
        <p:nvSpPr>
          <p:cNvPr id="11" name="">
            <a:extLst xmlns:a="http://schemas.openxmlformats.org/drawingml/2006/main">
              <a:ext uri="{FF2B5EF4-FFF2-40B4-BE49-F238E27FC236}">
                <a16:creationId xmlns:a16="http://schemas.microsoft.com/office/drawing/2014/main" id="{4CF7BE15-F74D-4D53-8D39-CA03089A849E}"/>
              </a:ext>
            </a:extLst>
          </p:cNvPr>
          <p:cNvSpPr>
            <a:spLocks xmlns:a="http://schemas.openxmlformats.org/drawingml/2006/main" noGrp="1"/>
          </p:cNvSpPr>
          <p:nvPr/>
        </p:nvSpPr>
        <p:spPr>
          <a:xfrm xmlns:a="http://schemas.openxmlformats.org/drawingml/2006/main">
            <a:off x="400050" y="4810125"/>
            <a:ext cx="33909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0969DA"/>
                </a:solidFill>
                <a:latin typeface="Arial"/>
                <a:ea typeface="Arial"/>
                <a:cs typeface="Arial"/>
              </a:defRPr>
            </a:pPr>
            <a:r>
              <a:t>Retrieved citations</a:t>
            </a:r>
          </a:p>
        </p:txBody>
      </p:sp>
      <p:sp>
        <p:nvSpPr>
          <p:cNvPr id="12" name="">
            <a:extLst xmlns:a="http://schemas.openxmlformats.org/drawingml/2006/main">
              <a:ext uri="{FF2B5EF4-FFF2-40B4-BE49-F238E27FC236}">
                <a16:creationId xmlns:a16="http://schemas.microsoft.com/office/drawing/2014/main" id="{D38B45B1-0F8A-4321-8E4D-F1E441D32A89}"/>
              </a:ext>
            </a:extLst>
          </p:cNvPr>
          <p:cNvSpPr>
            <a:spLocks xmlns:a="http://schemas.openxmlformats.org/drawingml/2006/main" noGrp="1"/>
          </p:cNvSpPr>
          <p:nvPr/>
        </p:nvSpPr>
        <p:spPr>
          <a:xfrm xmlns:a="http://schemas.openxmlformats.org/drawingml/2006/main">
            <a:off x="400050" y="5124450"/>
            <a:ext cx="3390900" cy="7239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111111"/>
                </a:solidFill>
                <a:latin typeface="Arial"/>
                <a:ea typeface="Arial"/>
                <a:cs typeface="Arial"/>
              </a:defRPr>
            </a:pPr>
            <a:r>
              <a:t>PTO-6 · notice and request process
PTO-7 · approval criteria</a:t>
            </a:r>
          </a:p>
        </p:txBody>
      </p:sp>
      <p:sp>
        <p:nvSpPr>
          <p:cNvPr id="13" name="">
            <a:extLst xmlns:a="http://schemas.openxmlformats.org/drawingml/2006/main">
              <a:ext uri="{FF2B5EF4-FFF2-40B4-BE49-F238E27FC236}">
                <a16:creationId xmlns:a16="http://schemas.microsoft.com/office/drawing/2014/main" id="{0878A72B-756F-4C65-AB8B-AE2FB4CA57A0}"/>
              </a:ext>
            </a:extLst>
          </p:cNvPr>
          <p:cNvSpPr>
            <a:spLocks xmlns:a="http://schemas.openxmlformats.org/drawingml/2006/main" noGrp="1"/>
          </p:cNvSpPr>
          <p:nvPr/>
        </p:nvSpPr>
        <p:spPr>
          <a:xfrm xmlns:a="http://schemas.openxmlformats.org/drawingml/2006/main">
            <a:off x="400050" y="5972175"/>
            <a:ext cx="33909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9A6700"/>
                </a:solidFill>
                <a:latin typeface="Arial"/>
                <a:ea typeface="Arial"/>
                <a:cs typeface="Arial"/>
              </a:defRPr>
            </a:pPr>
            <a:r>
              <a:t>No PTO record changed</a:t>
            </a:r>
          </a:p>
        </p:txBody>
      </p:sp>
      <p:sp>
        <p:nvSpPr>
          <p:cNvPr id="14" name="">
            <a:extLst xmlns:a="http://schemas.openxmlformats.org/drawingml/2006/main">
              <a:ext uri="{FF2B5EF4-FFF2-40B4-BE49-F238E27FC236}">
                <a16:creationId xmlns:a16="http://schemas.microsoft.com/office/drawing/2014/main" id="{A4115A29-14B9-4707-9C7E-CFE85395E44A}"/>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06</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40f2bda662f4e39"/>
          <a:stretch xmlns:a="http://schemas.openxmlformats.org/drawingml/2006/main"/>
        </p:blipFill>
        <p:spPr>
          <a:xfrm xmlns:a="http://schemas.openxmlformats.org/drawingml/2006/main">
            <a:off x="4362450" y="1754150"/>
            <a:ext cx="7277100" cy="4092650"/>
          </a:xfrm>
          <a:prstGeom xmlns:a="http://schemas.openxmlformats.org/drawingml/2006/main" prst="rect">
            <a:avLst/>
          </a:prstGeom>
        </p:spPr>
      </p:pic>
    </p:spTree>
    <p:extLst>
      <p:ext uri="{BB962C8B-B14F-4D97-AF65-F5344CB8AC3E}">
        <p14:creationId xmlns:p14="http://schemas.microsoft.com/office/powerpoint/2010/main" val="16019575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3FF29D-7C5F-4E8F-B01F-52CC6E955BA7}"/>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TASK 2 · TOOL NAMES, ARGUMENTS, OUTPUTS</a:t>
            </a:r>
          </a:p>
        </p:txBody>
      </p:sp>
      <p:sp>
        <p:nvSpPr>
          <p:cNvPr id="2" name="">
            <a:extLst xmlns:a="http://schemas.openxmlformats.org/drawingml/2006/main">
              <a:ext uri="{FF2B5EF4-FFF2-40B4-BE49-F238E27FC236}">
                <a16:creationId xmlns:a16="http://schemas.microsoft.com/office/drawing/2014/main" id="{31354942-0038-494C-8A9C-5B39C81392C6}"/>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0349"/>
          </a:bodyPr>
          <a:lstStyle xmlns:a="http://schemas.openxmlformats.org/drawingml/2006/main"/>
          <a:p xmlns:a="http://schemas.openxmlformats.org/drawingml/2006/main">
            <a:pPr algn="l">
              <a:defRPr sz="3000" b="1">
                <a:solidFill>
                  <a:srgbClr val="111111"/>
                </a:solidFill>
                <a:latin typeface="Arial"/>
                <a:ea typeface="Arial"/>
                <a:cs typeface="Arial"/>
              </a:defRPr>
            </a:pPr>
            <a:r>
              <a:t>The PTO workflow joins structured data and exact policy sections</a:t>
            </a:r>
          </a:p>
        </p:txBody>
      </p:sp>
      <p:sp>
        <p:nvSpPr>
          <p:cNvPr id="3" name="">
            <a:extLst xmlns:a="http://schemas.openxmlformats.org/drawingml/2006/main">
              <a:ext uri="{FF2B5EF4-FFF2-40B4-BE49-F238E27FC236}">
                <a16:creationId xmlns:a16="http://schemas.microsoft.com/office/drawing/2014/main" id="{A05B156B-7FA3-4FB6-9AB9-CD4839B132E1}"/>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BC491E4-6665-40BE-A9B8-1DB573E9196A}"/>
              </a:ext>
            </a:extLst>
          </p:cNvPr>
          <p:cNvSpPr>
            <a:spLocks xmlns:a="http://schemas.openxmlformats.org/drawingml/2006/main" noGrp="1"/>
          </p:cNvSpPr>
          <p:nvPr/>
        </p:nvSpPr>
        <p:spPr>
          <a:xfrm xmlns:a="http://schemas.openxmlformats.org/drawingml/2006/main">
            <a:off x="400050" y="1466850"/>
            <a:ext cx="7143750" cy="46672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5041391E-6DCE-4440-88D4-C4C73168973D}"/>
              </a:ext>
            </a:extLst>
          </p:cNvPr>
          <p:cNvSpPr>
            <a:spLocks xmlns:a="http://schemas.openxmlformats.org/drawingml/2006/main" noGrp="1"/>
          </p:cNvSpPr>
          <p:nvPr/>
        </p:nvSpPr>
        <p:spPr>
          <a:xfrm xmlns:a="http://schemas.openxmlformats.org/drawingml/2006/main">
            <a:off x="7905750" y="1562100"/>
            <a:ext cx="5143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0969DA"/>
                </a:solidFill>
                <a:latin typeface="Arial"/>
                <a:ea typeface="Arial"/>
                <a:cs typeface="Arial"/>
              </a:defRPr>
            </a:pPr>
            <a:r>
              <a:t>1–2</a:t>
            </a:r>
          </a:p>
        </p:txBody>
      </p:sp>
      <p:sp>
        <p:nvSpPr>
          <p:cNvPr id="6" name="">
            <a:extLst xmlns:a="http://schemas.openxmlformats.org/drawingml/2006/main">
              <a:ext uri="{FF2B5EF4-FFF2-40B4-BE49-F238E27FC236}">
                <a16:creationId xmlns:a16="http://schemas.microsoft.com/office/drawing/2014/main" id="{DC74DD9E-7048-457A-A22D-7490C9416193}"/>
              </a:ext>
            </a:extLst>
          </p:cNvPr>
          <p:cNvSpPr>
            <a:spLocks xmlns:a="http://schemas.openxmlformats.org/drawingml/2006/main" noGrp="1"/>
          </p:cNvSpPr>
          <p:nvPr/>
        </p:nvSpPr>
        <p:spPr>
          <a:xfrm xmlns:a="http://schemas.openxmlformats.org/drawingml/2006/main">
            <a:off x="8515350" y="1562100"/>
            <a:ext cx="28765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discover → lookup profile</a:t>
            </a:r>
          </a:p>
        </p:txBody>
      </p:sp>
      <p:sp>
        <p:nvSpPr>
          <p:cNvPr id="7" name="">
            <a:extLst xmlns:a="http://schemas.openxmlformats.org/drawingml/2006/main">
              <a:ext uri="{FF2B5EF4-FFF2-40B4-BE49-F238E27FC236}">
                <a16:creationId xmlns:a16="http://schemas.microsoft.com/office/drawing/2014/main" id="{205C67AD-31A5-4B0B-8292-BE01D452C84E}"/>
              </a:ext>
            </a:extLst>
          </p:cNvPr>
          <p:cNvSpPr>
            <a:spLocks xmlns:a="http://schemas.openxmlformats.org/drawingml/2006/main" noGrp="1"/>
          </p:cNvSpPr>
          <p:nvPr/>
        </p:nvSpPr>
        <p:spPr>
          <a:xfrm xmlns:a="http://schemas.openxmlformats.org/drawingml/2006/main">
            <a:off x="7905750" y="2095500"/>
            <a:ext cx="5143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0969DA"/>
                </a:solidFill>
                <a:latin typeface="Arial"/>
                <a:ea typeface="Arial"/>
                <a:cs typeface="Arial"/>
              </a:defRPr>
            </a:pPr>
            <a:r>
              <a:t>3</a:t>
            </a:r>
          </a:p>
        </p:txBody>
      </p:sp>
      <p:sp>
        <p:nvSpPr>
          <p:cNvPr id="8" name="">
            <a:extLst xmlns:a="http://schemas.openxmlformats.org/drawingml/2006/main">
              <a:ext uri="{FF2B5EF4-FFF2-40B4-BE49-F238E27FC236}">
                <a16:creationId xmlns:a16="http://schemas.microsoft.com/office/drawing/2014/main" id="{9A3A51F9-6ED5-4E66-B541-979AB0E64B90}"/>
              </a:ext>
            </a:extLst>
          </p:cNvPr>
          <p:cNvSpPr>
            <a:spLocks xmlns:a="http://schemas.openxmlformats.org/drawingml/2006/main" noGrp="1"/>
          </p:cNvSpPr>
          <p:nvPr/>
        </p:nvSpPr>
        <p:spPr>
          <a:xfrm xmlns:a="http://schemas.openxmlformats.org/drawingml/2006/main">
            <a:off x="8515350" y="2095500"/>
            <a:ext cx="28765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check_pto_balance</a:t>
            </a:r>
          </a:p>
        </p:txBody>
      </p:sp>
      <p:sp>
        <p:nvSpPr>
          <p:cNvPr id="9" name="">
            <a:extLst xmlns:a="http://schemas.openxmlformats.org/drawingml/2006/main">
              <a:ext uri="{FF2B5EF4-FFF2-40B4-BE49-F238E27FC236}">
                <a16:creationId xmlns:a16="http://schemas.microsoft.com/office/drawing/2014/main" id="{420BAD9F-225B-4CF1-B149-A6445749E4ED}"/>
              </a:ext>
            </a:extLst>
          </p:cNvPr>
          <p:cNvSpPr>
            <a:spLocks xmlns:a="http://schemas.openxmlformats.org/drawingml/2006/main" noGrp="1"/>
          </p:cNvSpPr>
          <p:nvPr/>
        </p:nvSpPr>
        <p:spPr>
          <a:xfrm xmlns:a="http://schemas.openxmlformats.org/drawingml/2006/main">
            <a:off x="8515350" y="2409825"/>
            <a:ext cx="2876550" cy="647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E-1021 · 2026-09-21 → 2026-09-23
Output: found=true; sufficient=true</a:t>
            </a:r>
          </a:p>
        </p:txBody>
      </p:sp>
      <p:sp>
        <p:nvSpPr>
          <p:cNvPr id="10" name="">
            <a:extLst xmlns:a="http://schemas.openxmlformats.org/drawingml/2006/main">
              <a:ext uri="{FF2B5EF4-FFF2-40B4-BE49-F238E27FC236}">
                <a16:creationId xmlns:a16="http://schemas.microsoft.com/office/drawing/2014/main" id="{41680C44-AD04-4763-B541-B865A7290609}"/>
              </a:ext>
            </a:extLst>
          </p:cNvPr>
          <p:cNvSpPr>
            <a:spLocks xmlns:a="http://schemas.openxmlformats.org/drawingml/2006/main" noGrp="1"/>
          </p:cNvSpPr>
          <p:nvPr/>
        </p:nvSpPr>
        <p:spPr>
          <a:xfrm xmlns:a="http://schemas.openxmlformats.org/drawingml/2006/main">
            <a:off x="7905750" y="3219450"/>
            <a:ext cx="5143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0969DA"/>
                </a:solidFill>
                <a:latin typeface="Arial"/>
                <a:ea typeface="Arial"/>
                <a:cs typeface="Arial"/>
              </a:defRPr>
            </a:pPr>
            <a:r>
              <a:t>4</a:t>
            </a:r>
          </a:p>
        </p:txBody>
      </p:sp>
      <p:sp>
        <p:nvSpPr>
          <p:cNvPr id="11" name="">
            <a:extLst xmlns:a="http://schemas.openxmlformats.org/drawingml/2006/main">
              <a:ext uri="{FF2B5EF4-FFF2-40B4-BE49-F238E27FC236}">
                <a16:creationId xmlns:a16="http://schemas.microsoft.com/office/drawing/2014/main" id="{6C1804CD-D3B2-4658-AAD7-027452DE3E32}"/>
              </a:ext>
            </a:extLst>
          </p:cNvPr>
          <p:cNvSpPr>
            <a:spLocks xmlns:a="http://schemas.openxmlformats.org/drawingml/2006/main" noGrp="1"/>
          </p:cNvSpPr>
          <p:nvPr/>
        </p:nvSpPr>
        <p:spPr>
          <a:xfrm xmlns:a="http://schemas.openxmlformats.org/drawingml/2006/main">
            <a:off x="8515350" y="3219450"/>
            <a:ext cx="28765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1">
                <a:solidFill>
                  <a:srgbClr val="111111"/>
                </a:solidFill>
                <a:latin typeface="Consolas"/>
                <a:ea typeface="Consolas"/>
                <a:cs typeface="Consolas"/>
              </a:defRPr>
            </a:pPr>
            <a:r>
              <a:t>search_policy_documents</a:t>
            </a:r>
          </a:p>
        </p:txBody>
      </p:sp>
      <p:sp>
        <p:nvSpPr>
          <p:cNvPr id="12" name="">
            <a:extLst xmlns:a="http://schemas.openxmlformats.org/drawingml/2006/main">
              <a:ext uri="{FF2B5EF4-FFF2-40B4-BE49-F238E27FC236}">
                <a16:creationId xmlns:a16="http://schemas.microsoft.com/office/drawing/2014/main" id="{C2051A88-972D-4988-A4AC-BF4635B36735}"/>
              </a:ext>
            </a:extLst>
          </p:cNvPr>
          <p:cNvSpPr>
            <a:spLocks xmlns:a="http://schemas.openxmlformats.org/drawingml/2006/main" noGrp="1"/>
          </p:cNvSpPr>
          <p:nvPr/>
        </p:nvSpPr>
        <p:spPr>
          <a:xfrm xmlns:a="http://schemas.openxmlformats.org/drawingml/2006/main">
            <a:off x="8515350" y="3524250"/>
            <a:ext cx="28765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8 ranked chunks</a:t>
            </a:r>
          </a:p>
        </p:txBody>
      </p:sp>
      <p:sp>
        <p:nvSpPr>
          <p:cNvPr id="13" name="">
            <a:extLst xmlns:a="http://schemas.openxmlformats.org/drawingml/2006/main">
              <a:ext uri="{FF2B5EF4-FFF2-40B4-BE49-F238E27FC236}">
                <a16:creationId xmlns:a16="http://schemas.microsoft.com/office/drawing/2014/main" id="{AE697AB6-5F22-4EDE-8D97-D204814D953C}"/>
              </a:ext>
            </a:extLst>
          </p:cNvPr>
          <p:cNvSpPr>
            <a:spLocks xmlns:a="http://schemas.openxmlformats.org/drawingml/2006/main" noGrp="1"/>
          </p:cNvSpPr>
          <p:nvPr/>
        </p:nvSpPr>
        <p:spPr>
          <a:xfrm xmlns:a="http://schemas.openxmlformats.org/drawingml/2006/main">
            <a:off x="7905750" y="4010025"/>
            <a:ext cx="5143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0969DA"/>
                </a:solidFill>
                <a:latin typeface="Arial"/>
                <a:ea typeface="Arial"/>
                <a:cs typeface="Arial"/>
              </a:defRPr>
            </a:pPr>
            <a:r>
              <a:t>5–6</a:t>
            </a:r>
          </a:p>
        </p:txBody>
      </p:sp>
      <p:sp>
        <p:nvSpPr>
          <p:cNvPr id="14" name="">
            <a:extLst xmlns:a="http://schemas.openxmlformats.org/drawingml/2006/main">
              <a:ext uri="{FF2B5EF4-FFF2-40B4-BE49-F238E27FC236}">
                <a16:creationId xmlns:a16="http://schemas.microsoft.com/office/drawing/2014/main" id="{20A2A5D2-2F7D-4361-8DD2-D7F1351E29C8}"/>
              </a:ext>
            </a:extLst>
          </p:cNvPr>
          <p:cNvSpPr>
            <a:spLocks xmlns:a="http://schemas.openxmlformats.org/drawingml/2006/main" noGrp="1"/>
          </p:cNvSpPr>
          <p:nvPr/>
        </p:nvSpPr>
        <p:spPr>
          <a:xfrm xmlns:a="http://schemas.openxmlformats.org/drawingml/2006/main">
            <a:off x="8515350" y="4010025"/>
            <a:ext cx="28765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11111"/>
                </a:solidFill>
                <a:latin typeface="Consolas"/>
                <a:ea typeface="Consolas"/>
                <a:cs typeface="Consolas"/>
              </a:defRPr>
            </a:pPr>
            <a:r>
              <a:t>get_policy_section ×2</a:t>
            </a:r>
          </a:p>
        </p:txBody>
      </p:sp>
      <p:sp>
        <p:nvSpPr>
          <p:cNvPr id="15" name="">
            <a:extLst xmlns:a="http://schemas.openxmlformats.org/drawingml/2006/main">
              <a:ext uri="{FF2B5EF4-FFF2-40B4-BE49-F238E27FC236}">
                <a16:creationId xmlns:a16="http://schemas.microsoft.com/office/drawing/2014/main" id="{695068A1-B99D-4191-A68B-DCB91018C6E8}"/>
              </a:ext>
            </a:extLst>
          </p:cNvPr>
          <p:cNvSpPr>
            <a:spLocks xmlns:a="http://schemas.openxmlformats.org/drawingml/2006/main" noGrp="1"/>
          </p:cNvSpPr>
          <p:nvPr/>
        </p:nvSpPr>
        <p:spPr>
          <a:xfrm xmlns:a="http://schemas.openxmlformats.org/drawingml/2006/main">
            <a:off x="8515350" y="4314825"/>
            <a:ext cx="28765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PTO-6 and PTO-7</a:t>
            </a:r>
          </a:p>
        </p:txBody>
      </p:sp>
      <p:sp>
        <p:nvSpPr>
          <p:cNvPr id="16" name="">
            <a:extLst xmlns:a="http://schemas.openxmlformats.org/drawingml/2006/main">
              <a:ext uri="{FF2B5EF4-FFF2-40B4-BE49-F238E27FC236}">
                <a16:creationId xmlns:a16="http://schemas.microsoft.com/office/drawing/2014/main" id="{EAD8B398-807D-4872-9C27-8B6A982B4A0D}"/>
              </a:ext>
            </a:extLst>
          </p:cNvPr>
          <p:cNvSpPr>
            <a:spLocks xmlns:a="http://schemas.openxmlformats.org/drawingml/2006/main" noGrp="1"/>
          </p:cNvSpPr>
          <p:nvPr/>
        </p:nvSpPr>
        <p:spPr>
          <a:xfrm xmlns:a="http://schemas.openxmlformats.org/drawingml/2006/main">
            <a:off x="7905750" y="4800600"/>
            <a:ext cx="5143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575" b="1">
                <a:solidFill>
                  <a:srgbClr val="1A7F37"/>
                </a:solidFill>
                <a:latin typeface="Arial"/>
                <a:ea typeface="Arial"/>
                <a:cs typeface="Arial"/>
              </a:defRPr>
            </a:pPr>
            <a:r>
              <a:t>7</a:t>
            </a:r>
          </a:p>
        </p:txBody>
      </p:sp>
      <p:sp>
        <p:nvSpPr>
          <p:cNvPr id="17" name="">
            <a:extLst xmlns:a="http://schemas.openxmlformats.org/drawingml/2006/main">
              <a:ext uri="{FF2B5EF4-FFF2-40B4-BE49-F238E27FC236}">
                <a16:creationId xmlns:a16="http://schemas.microsoft.com/office/drawing/2014/main" id="{35CAB05D-D4DC-4097-A3C0-4FB6A6B15B79}"/>
              </a:ext>
            </a:extLst>
          </p:cNvPr>
          <p:cNvSpPr>
            <a:spLocks xmlns:a="http://schemas.openxmlformats.org/drawingml/2006/main" noGrp="1"/>
          </p:cNvSpPr>
          <p:nvPr/>
        </p:nvSpPr>
        <p:spPr>
          <a:xfrm xmlns:a="http://schemas.openxmlformats.org/drawingml/2006/main">
            <a:off x="8515350" y="4800600"/>
            <a:ext cx="2876550" cy="285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1">
                <a:solidFill>
                  <a:srgbClr val="111111"/>
                </a:solidFill>
                <a:latin typeface="Consolas"/>
                <a:ea typeface="Consolas"/>
                <a:cs typeface="Consolas"/>
              </a:defRPr>
            </a:pPr>
            <a:r>
              <a:t>check_policy_compliance</a:t>
            </a:r>
          </a:p>
        </p:txBody>
      </p:sp>
      <p:sp>
        <p:nvSpPr>
          <p:cNvPr id="18" name="">
            <a:extLst xmlns:a="http://schemas.openxmlformats.org/drawingml/2006/main">
              <a:ext uri="{FF2B5EF4-FFF2-40B4-BE49-F238E27FC236}">
                <a16:creationId xmlns:a16="http://schemas.microsoft.com/office/drawing/2014/main" id="{BB2BBEBA-45CF-477D-90C7-95D688714395}"/>
              </a:ext>
            </a:extLst>
          </p:cNvPr>
          <p:cNvSpPr>
            <a:spLocks xmlns:a="http://schemas.openxmlformats.org/drawingml/2006/main" noGrp="1"/>
          </p:cNvSpPr>
          <p:nvPr/>
        </p:nvSpPr>
        <p:spPr>
          <a:xfrm xmlns:a="http://schemas.openxmlformats.org/drawingml/2006/main">
            <a:off x="8515350" y="5114925"/>
            <a:ext cx="2876550" cy="2571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555555"/>
                </a:solidFill>
                <a:latin typeface="Arial"/>
                <a:ea typeface="Arial"/>
                <a:cs typeface="Arial"/>
              </a:defRPr>
            </a:pPr>
            <a:r>
              <a:t>Output: conditionally_eligible</a:t>
            </a:r>
          </a:p>
        </p:txBody>
      </p:sp>
      <p:sp>
        <p:nvSpPr>
          <p:cNvPr id="19" name="">
            <a:extLst xmlns:a="http://schemas.openxmlformats.org/drawingml/2006/main">
              <a:ext uri="{FF2B5EF4-FFF2-40B4-BE49-F238E27FC236}">
                <a16:creationId xmlns:a16="http://schemas.microsoft.com/office/drawing/2014/main" id="{22DAF8C7-320B-4839-A099-28C242E1DCF5}"/>
              </a:ext>
            </a:extLst>
          </p:cNvPr>
          <p:cNvSpPr>
            <a:spLocks xmlns:a="http://schemas.openxmlformats.org/drawingml/2006/main" noGrp="1"/>
          </p:cNvSpPr>
          <p:nvPr/>
        </p:nvSpPr>
        <p:spPr>
          <a:xfrm xmlns:a="http://schemas.openxmlformats.org/drawingml/2006/main">
            <a:off x="7905750" y="5581650"/>
            <a:ext cx="3486150" cy="552450"/>
          </a:xfrm>
          <a:prstGeom xmlns:a="http://schemas.openxmlformats.org/drawingml/2006/main" prst="rect">
            <a:avLst/>
          </a:prstGeom>
          <a:solidFill xmlns:a="http://schemas.openxmlformats.org/drawingml/2006/main">
            <a:srgbClr val="FFF6D8"/>
          </a:solidFill>
        </p:spPr>
      </p:sp>
      <p:sp>
        <p:nvSpPr>
          <p:cNvPr id="20" name="">
            <a:extLst xmlns:a="http://schemas.openxmlformats.org/drawingml/2006/main">
              <a:ext uri="{FF2B5EF4-FFF2-40B4-BE49-F238E27FC236}">
                <a16:creationId xmlns:a16="http://schemas.microsoft.com/office/drawing/2014/main" id="{3B03F78E-4944-40BA-B39C-6756C1B26898}"/>
              </a:ext>
            </a:extLst>
          </p:cNvPr>
          <p:cNvSpPr>
            <a:spLocks xmlns:a="http://schemas.openxmlformats.org/drawingml/2006/main" noGrp="1"/>
          </p:cNvSpPr>
          <p:nvPr/>
        </p:nvSpPr>
        <p:spPr>
          <a:xfrm xmlns:a="http://schemas.openxmlformats.org/drawingml/2006/main">
            <a:off x="8096250" y="5715000"/>
            <a:ext cx="3105150" cy="304800"/>
          </a:xfrm>
          <a:prstGeom xmlns:a="http://schemas.openxmlformats.org/drawingml/2006/main" prst="rect">
            <a:avLst/>
          </a:prstGeom>
        </p:spPr>
        <p:txBody>
          <a:bodyPr xmlns:a="http://schemas.openxmlformats.org/drawingml/2006/main" spcFirstLastPara="1" lIns="0" tIns="0" rIns="0" bIns="0" anchor="t">
            <a:normAutofit fontScale="91908"/>
          </a:bodyPr>
          <a:lstStyle xmlns:a="http://schemas.openxmlformats.org/drawingml/2006/main"/>
          <a:p xmlns:a="http://schemas.openxmlformats.org/drawingml/2006/main">
            <a:pPr algn="l">
              <a:defRPr sz="1350" b="1">
                <a:solidFill>
                  <a:srgbClr val="9A6700"/>
                </a:solidFill>
                <a:latin typeface="Arial"/>
                <a:ea typeface="Arial"/>
                <a:cs typeface="Arial"/>
              </a:defRPr>
            </a:pPr>
            <a:r>
              <a:t>Safety result: read only; no PTO mutation</a:t>
            </a:r>
          </a:p>
        </p:txBody>
      </p:sp>
      <p:sp>
        <p:nvSpPr>
          <p:cNvPr id="21" name="">
            <a:extLst xmlns:a="http://schemas.openxmlformats.org/drawingml/2006/main">
              <a:ext uri="{FF2B5EF4-FFF2-40B4-BE49-F238E27FC236}">
                <a16:creationId xmlns:a16="http://schemas.microsoft.com/office/drawing/2014/main" id="{0BFB5605-EDE3-45F3-A968-A9FD21CEA4BC}"/>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649793816ec4987"/>
          <a:stretch xmlns:a="http://schemas.openxmlformats.org/drawingml/2006/main"/>
        </p:blipFill>
        <p:spPr>
          <a:xfrm xmlns:a="http://schemas.openxmlformats.org/drawingml/2006/main">
            <a:off x="552450" y="1877358"/>
            <a:ext cx="6838950" cy="3846234"/>
          </a:xfrm>
          <a:prstGeom xmlns:a="http://schemas.openxmlformats.org/drawingml/2006/main" prst="rect">
            <a:avLst/>
          </a:prstGeom>
        </p:spPr>
      </p:pic>
    </p:spTree>
    <p:extLst>
      <p:ext uri="{BB962C8B-B14F-4D97-AF65-F5344CB8AC3E}">
        <p14:creationId xmlns:p14="http://schemas.microsoft.com/office/powerpoint/2010/main" val="11047981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86E58B-94F9-481D-8A77-26A22F1663EE}"/>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TASK 2 · FINAL ACTION AND SAFETY BOUNDARY</a:t>
            </a:r>
          </a:p>
        </p:txBody>
      </p:sp>
      <p:sp>
        <p:nvSpPr>
          <p:cNvPr id="2" name="">
            <a:extLst xmlns:a="http://schemas.openxmlformats.org/drawingml/2006/main">
              <a:ext uri="{FF2B5EF4-FFF2-40B4-BE49-F238E27FC236}">
                <a16:creationId xmlns:a16="http://schemas.microsoft.com/office/drawing/2014/main" id="{1032EEF3-5A4A-4F1C-828A-3AEDB1927D31}"/>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0626"/>
          </a:bodyPr>
          <a:lstStyle xmlns:a="http://schemas.openxmlformats.org/drawingml/2006/main"/>
          <a:p xmlns:a="http://schemas.openxmlformats.org/drawingml/2006/main">
            <a:pPr algn="l">
              <a:defRPr sz="3000" b="1">
                <a:solidFill>
                  <a:srgbClr val="111111"/>
                </a:solidFill>
                <a:latin typeface="Arial"/>
                <a:ea typeface="Arial"/>
                <a:cs typeface="Arial"/>
              </a:defRPr>
            </a:pPr>
            <a:r>
              <a:t>The final action is a structured draft that is neither sent nor saved</a:t>
            </a:r>
          </a:p>
        </p:txBody>
      </p:sp>
      <p:sp>
        <p:nvSpPr>
          <p:cNvPr id="3" name="">
            <a:extLst xmlns:a="http://schemas.openxmlformats.org/drawingml/2006/main">
              <a:ext uri="{FF2B5EF4-FFF2-40B4-BE49-F238E27FC236}">
                <a16:creationId xmlns:a16="http://schemas.microsoft.com/office/drawing/2014/main" id="{DD2802EB-0D12-4781-BD56-4CACBC054311}"/>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D6F15CC7-0816-42AC-9013-7652D68C58AD}"/>
              </a:ext>
            </a:extLst>
          </p:cNvPr>
          <p:cNvSpPr>
            <a:spLocks xmlns:a="http://schemas.openxmlformats.org/drawingml/2006/main" noGrp="1"/>
          </p:cNvSpPr>
          <p:nvPr/>
        </p:nvSpPr>
        <p:spPr>
          <a:xfrm xmlns:a="http://schemas.openxmlformats.org/drawingml/2006/main">
            <a:off x="400050" y="1466850"/>
            <a:ext cx="5457825" cy="34861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D697C56F-A61B-4302-A974-EC269116C59A}"/>
              </a:ext>
            </a:extLst>
          </p:cNvPr>
          <p:cNvSpPr>
            <a:spLocks xmlns:a="http://schemas.openxmlformats.org/drawingml/2006/main" noGrp="1"/>
          </p:cNvSpPr>
          <p:nvPr/>
        </p:nvSpPr>
        <p:spPr>
          <a:xfrm xmlns:a="http://schemas.openxmlformats.org/drawingml/2006/main">
            <a:off x="6334125" y="1466850"/>
            <a:ext cx="5457825" cy="3486150"/>
          </a:xfrm>
          <a:prstGeom xmlns:a="http://schemas.openxmlformats.org/drawingml/2006/main" prst="rect">
            <a:avLst/>
          </a:prstGeom>
          <a:solidFill xmlns:a="http://schemas.openxmlformats.org/drawingml/2006/main">
            <a:srgbClr val="F7F7F7"/>
          </a:solidFill>
        </p:spPr>
      </p:sp>
      <p:sp>
        <p:nvSpPr>
          <p:cNvPr id="6" name="">
            <a:extLst xmlns:a="http://schemas.openxmlformats.org/drawingml/2006/main">
              <a:ext uri="{FF2B5EF4-FFF2-40B4-BE49-F238E27FC236}">
                <a16:creationId xmlns:a16="http://schemas.microsoft.com/office/drawing/2014/main" id="{CDF95256-16DA-41E7-8FAE-47D09877F8AA}"/>
              </a:ext>
            </a:extLst>
          </p:cNvPr>
          <p:cNvSpPr>
            <a:spLocks xmlns:a="http://schemas.openxmlformats.org/drawingml/2006/main" noGrp="1"/>
          </p:cNvSpPr>
          <p:nvPr/>
        </p:nvSpPr>
        <p:spPr>
          <a:xfrm xmlns:a="http://schemas.openxmlformats.org/drawingml/2006/main">
            <a:off x="514350" y="5076825"/>
            <a:ext cx="52197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1">
                <a:solidFill>
                  <a:srgbClr val="0969DA"/>
                </a:solidFill>
                <a:latin typeface="Arial"/>
                <a:ea typeface="Arial"/>
                <a:cs typeface="Arial"/>
              </a:defRPr>
            </a:pPr>
            <a:r>
              <a:t>Visible action output</a:t>
            </a:r>
          </a:p>
        </p:txBody>
      </p:sp>
      <p:sp>
        <p:nvSpPr>
          <p:cNvPr id="7" name="">
            <a:extLst xmlns:a="http://schemas.openxmlformats.org/drawingml/2006/main">
              <a:ext uri="{FF2B5EF4-FFF2-40B4-BE49-F238E27FC236}">
                <a16:creationId xmlns:a16="http://schemas.microsoft.com/office/drawing/2014/main" id="{1FFD6662-C8FE-44C7-AE09-12EA6F76774E}"/>
              </a:ext>
            </a:extLst>
          </p:cNvPr>
          <p:cNvSpPr>
            <a:spLocks xmlns:a="http://schemas.openxmlformats.org/drawingml/2006/main" noGrp="1"/>
          </p:cNvSpPr>
          <p:nvPr/>
        </p:nvSpPr>
        <p:spPr>
          <a:xfrm xmlns:a="http://schemas.openxmlformats.org/drawingml/2006/main">
            <a:off x="514350" y="5410200"/>
            <a:ext cx="5219700" cy="6667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111111"/>
                </a:solidFill>
                <a:latin typeface="Consolas"/>
                <a:ea typeface="Consolas"/>
                <a:cs typeface="Consolas"/>
              </a:defRPr>
            </a:pPr>
            <a:r>
              <a:t>To: Kendall Price
Subject: PTO request 2026-09-21 to 2026-09-23</a:t>
            </a:r>
          </a:p>
        </p:txBody>
      </p:sp>
      <p:sp>
        <p:nvSpPr>
          <p:cNvPr id="8" name="">
            <a:extLst xmlns:a="http://schemas.openxmlformats.org/drawingml/2006/main">
              <a:ext uri="{FF2B5EF4-FFF2-40B4-BE49-F238E27FC236}">
                <a16:creationId xmlns:a16="http://schemas.microsoft.com/office/drawing/2014/main" id="{DCD1C1D8-1E00-4AAF-B0B7-0891390549C3}"/>
              </a:ext>
            </a:extLst>
          </p:cNvPr>
          <p:cNvSpPr>
            <a:spLocks xmlns:a="http://schemas.openxmlformats.org/drawingml/2006/main" noGrp="1"/>
          </p:cNvSpPr>
          <p:nvPr/>
        </p:nvSpPr>
        <p:spPr>
          <a:xfrm xmlns:a="http://schemas.openxmlformats.org/drawingml/2006/main">
            <a:off x="6448425" y="5076825"/>
            <a:ext cx="521970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425" b="1">
                <a:solidFill>
                  <a:srgbClr val="1A7F37"/>
                </a:solidFill>
                <a:latin typeface="Consolas"/>
                <a:ea typeface="Consolas"/>
                <a:cs typeface="Consolas"/>
              </a:defRPr>
            </a:pPr>
            <a:r>
              <a:t>draft_hr_email</a:t>
            </a:r>
          </a:p>
        </p:txBody>
      </p:sp>
      <p:sp>
        <p:nvSpPr>
          <p:cNvPr id="9" name="">
            <a:extLst xmlns:a="http://schemas.openxmlformats.org/drawingml/2006/main">
              <a:ext uri="{FF2B5EF4-FFF2-40B4-BE49-F238E27FC236}">
                <a16:creationId xmlns:a16="http://schemas.microsoft.com/office/drawing/2014/main" id="{61503647-4539-44F1-9D81-ED95DB01ACFA}"/>
              </a:ext>
            </a:extLst>
          </p:cNvPr>
          <p:cNvSpPr>
            <a:spLocks xmlns:a="http://schemas.openxmlformats.org/drawingml/2006/main" noGrp="1"/>
          </p:cNvSpPr>
          <p:nvPr/>
        </p:nvSpPr>
        <p:spPr>
          <a:xfrm xmlns:a="http://schemas.openxmlformats.org/drawingml/2006/main">
            <a:off x="6448425" y="5410200"/>
            <a:ext cx="5219700" cy="7429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111111"/>
                </a:solidFill>
                <a:latin typeface="Consolas"/>
                <a:ea typeface="Consolas"/>
                <a:cs typeface="Consolas"/>
              </a:defRPr>
            </a:pPr>
            <a:r>
              <a:t>Arguments: pto_manager_request, E-1021, start/end dates
Output: Draft - not sent; sent=false; persisted=false</a:t>
            </a:r>
          </a:p>
        </p:txBody>
      </p:sp>
      <p:sp>
        <p:nvSpPr>
          <p:cNvPr id="10" name="">
            <a:extLst xmlns:a="http://schemas.openxmlformats.org/drawingml/2006/main">
              <a:ext uri="{FF2B5EF4-FFF2-40B4-BE49-F238E27FC236}">
                <a16:creationId xmlns:a16="http://schemas.microsoft.com/office/drawing/2014/main" id="{3C07A30A-0067-467E-A0E2-910078FA220D}"/>
              </a:ext>
            </a:extLst>
          </p:cNvPr>
          <p:cNvSpPr>
            <a:spLocks xmlns:a="http://schemas.openxmlformats.org/drawingml/2006/main" noGrp="1"/>
          </p:cNvSpPr>
          <p:nvPr/>
        </p:nvSpPr>
        <p:spPr>
          <a:xfrm xmlns:a="http://schemas.openxmlformats.org/drawingml/2006/main">
            <a:off x="400050" y="6229350"/>
            <a:ext cx="11391900" cy="285750"/>
          </a:xfrm>
          <a:prstGeom xmlns:a="http://schemas.openxmlformats.org/drawingml/2006/main" prst="rect">
            <a:avLst/>
          </a:prstGeom>
          <a:solidFill xmlns:a="http://schemas.openxmlformats.org/drawingml/2006/main">
            <a:srgbClr val="EAF7EF"/>
          </a:solidFill>
        </p:spPr>
      </p:sp>
      <p:sp>
        <p:nvSpPr>
          <p:cNvPr id="11" name="">
            <a:extLst xmlns:a="http://schemas.openxmlformats.org/drawingml/2006/main">
              <a:ext uri="{FF2B5EF4-FFF2-40B4-BE49-F238E27FC236}">
                <a16:creationId xmlns:a16="http://schemas.microsoft.com/office/drawing/2014/main" id="{BAF8BDFE-EC38-422D-8C02-3CBCA163104A}"/>
              </a:ext>
            </a:extLst>
          </p:cNvPr>
          <p:cNvSpPr>
            <a:spLocks xmlns:a="http://schemas.openxmlformats.org/drawingml/2006/main" noGrp="1"/>
          </p:cNvSpPr>
          <p:nvPr/>
        </p:nvSpPr>
        <p:spPr>
          <a:xfrm xmlns:a="http://schemas.openxmlformats.org/drawingml/2006/main">
            <a:off x="609600" y="6286500"/>
            <a:ext cx="10972800" cy="2095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1">
                <a:solidFill>
                  <a:srgbClr val="1A7F37"/>
                </a:solidFill>
                <a:latin typeface="Arial"/>
                <a:ea typeface="Arial"/>
                <a:cs typeface="Arial"/>
              </a:defRPr>
            </a:pPr>
            <a:r>
              <a:t>The assistant produces a reviewable artifact without creating a PTO record or sending an email.</a:t>
            </a:r>
          </a:p>
        </p:txBody>
      </p:sp>
      <p:sp>
        <p:nvSpPr>
          <p:cNvPr id="12" name="">
            <a:extLst xmlns:a="http://schemas.openxmlformats.org/drawingml/2006/main">
              <a:ext uri="{FF2B5EF4-FFF2-40B4-BE49-F238E27FC236}">
                <a16:creationId xmlns:a16="http://schemas.microsoft.com/office/drawing/2014/main" id="{418E5668-BF7E-49F5-AD04-7A51905377D3}"/>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08</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df780651f3a4557"/>
          <a:stretch xmlns:a="http://schemas.openxmlformats.org/drawingml/2006/main"/>
        </p:blipFill>
        <p:spPr>
          <a:xfrm xmlns:a="http://schemas.openxmlformats.org/drawingml/2006/main">
            <a:off x="552450" y="1760891"/>
            <a:ext cx="5153025" cy="2898068"/>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648a9ff85bf4eb8"/>
          <a:stretch xmlns:a="http://schemas.openxmlformats.org/drawingml/2006/main"/>
        </p:blipFill>
        <p:spPr>
          <a:xfrm xmlns:a="http://schemas.openxmlformats.org/drawingml/2006/main">
            <a:off x="6486525" y="1760891"/>
            <a:ext cx="5153025" cy="2898068"/>
          </a:xfrm>
          <a:prstGeom xmlns:a="http://schemas.openxmlformats.org/drawingml/2006/main" prst="rect">
            <a:avLst/>
          </a:prstGeom>
        </p:spPr>
      </p:pic>
    </p:spTree>
    <p:extLst>
      <p:ext uri="{BB962C8B-B14F-4D97-AF65-F5344CB8AC3E}">
        <p14:creationId xmlns:p14="http://schemas.microsoft.com/office/powerpoint/2010/main" val="10059395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F76D73-BE3A-4497-94EF-386B98211B08}"/>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DEPLOYMENT AND CI/CD</a:t>
            </a:r>
          </a:p>
        </p:txBody>
      </p:sp>
      <p:sp>
        <p:nvSpPr>
          <p:cNvPr id="2" name="">
            <a:extLst xmlns:a="http://schemas.openxmlformats.org/drawingml/2006/main">
              <a:ext uri="{FF2B5EF4-FFF2-40B4-BE49-F238E27FC236}">
                <a16:creationId xmlns:a16="http://schemas.microsoft.com/office/drawing/2014/main" id="{58E44F45-ABC6-49EA-846F-2409D170175A}"/>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3621"/>
          </a:bodyPr>
          <a:lstStyle xmlns:a="http://schemas.openxmlformats.org/drawingml/2006/main"/>
          <a:p xmlns:a="http://schemas.openxmlformats.org/drawingml/2006/main">
            <a:pPr algn="l">
              <a:defRPr sz="3000" b="1">
                <a:solidFill>
                  <a:srgbClr val="111111"/>
                </a:solidFill>
                <a:latin typeface="Arial"/>
                <a:ea typeface="Arial"/>
                <a:cs typeface="Arial"/>
              </a:defRPr>
            </a:pPr>
            <a:r>
              <a:t>CI and hosted smoke bind the deployed app to an exact release</a:t>
            </a:r>
          </a:p>
        </p:txBody>
      </p:sp>
      <p:sp>
        <p:nvSpPr>
          <p:cNvPr id="3" name="">
            <a:extLst xmlns:a="http://schemas.openxmlformats.org/drawingml/2006/main">
              <a:ext uri="{FF2B5EF4-FFF2-40B4-BE49-F238E27FC236}">
                <a16:creationId xmlns:a16="http://schemas.microsoft.com/office/drawing/2014/main" id="{CC2AC7E8-887F-4C32-A251-DB9194430CED}"/>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19FC982-F0D7-465F-B95A-71907F231F0A}"/>
              </a:ext>
            </a:extLst>
          </p:cNvPr>
          <p:cNvSpPr>
            <a:spLocks xmlns:a="http://schemas.openxmlformats.org/drawingml/2006/main" noGrp="1"/>
          </p:cNvSpPr>
          <p:nvPr/>
        </p:nvSpPr>
        <p:spPr>
          <a:xfrm xmlns:a="http://schemas.openxmlformats.org/drawingml/2006/main">
            <a:off x="400050" y="1466850"/>
            <a:ext cx="4105275" cy="44767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988EDBE5-0ABB-4CAB-BFF4-9CA01BAEF24E}"/>
              </a:ext>
            </a:extLst>
          </p:cNvPr>
          <p:cNvSpPr>
            <a:spLocks xmlns:a="http://schemas.openxmlformats.org/drawingml/2006/main" noGrp="1"/>
          </p:cNvSpPr>
          <p:nvPr/>
        </p:nvSpPr>
        <p:spPr>
          <a:xfrm xmlns:a="http://schemas.openxmlformats.org/drawingml/2006/main">
            <a:off x="4810125" y="1466850"/>
            <a:ext cx="6981825" cy="4476750"/>
          </a:xfrm>
          <a:prstGeom xmlns:a="http://schemas.openxmlformats.org/drawingml/2006/main" prst="rect">
            <a:avLst/>
          </a:prstGeom>
          <a:solidFill xmlns:a="http://schemas.openxmlformats.org/drawingml/2006/main">
            <a:srgbClr val="F7F7F7"/>
          </a:solidFill>
        </p:spPr>
      </p:sp>
      <p:sp>
        <p:nvSpPr>
          <p:cNvPr id="6" name="">
            <a:extLst xmlns:a="http://schemas.openxmlformats.org/drawingml/2006/main">
              <a:ext uri="{FF2B5EF4-FFF2-40B4-BE49-F238E27FC236}">
                <a16:creationId xmlns:a16="http://schemas.microsoft.com/office/drawing/2014/main" id="{D64BFBCC-BB0E-4711-8638-6907A567C618}"/>
              </a:ext>
            </a:extLst>
          </p:cNvPr>
          <p:cNvSpPr>
            <a:spLocks xmlns:a="http://schemas.openxmlformats.org/drawingml/2006/main" noGrp="1"/>
          </p:cNvSpPr>
          <p:nvPr/>
        </p:nvSpPr>
        <p:spPr>
          <a:xfrm xmlns:a="http://schemas.openxmlformats.org/drawingml/2006/main">
            <a:off x="552450" y="6038850"/>
            <a:ext cx="3810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0969DA"/>
                </a:solidFill>
                <a:latin typeface="Arial"/>
                <a:ea typeface="Arial"/>
                <a:cs typeface="Arial"/>
              </a:defRPr>
            </a:pPr>
            <a:r>
              <a:t>Runtime health</a:t>
            </a:r>
          </a:p>
        </p:txBody>
      </p:sp>
      <p:sp>
        <p:nvSpPr>
          <p:cNvPr id="7" name="">
            <a:extLst xmlns:a="http://schemas.openxmlformats.org/drawingml/2006/main">
              <a:ext uri="{FF2B5EF4-FFF2-40B4-BE49-F238E27FC236}">
                <a16:creationId xmlns:a16="http://schemas.microsoft.com/office/drawing/2014/main" id="{97153542-CE4F-4FA2-BFE8-39D8FBE9788C}"/>
              </a:ext>
            </a:extLst>
          </p:cNvPr>
          <p:cNvSpPr>
            <a:spLocks xmlns:a="http://schemas.openxmlformats.org/drawingml/2006/main" noGrp="1"/>
          </p:cNvSpPr>
          <p:nvPr/>
        </p:nvSpPr>
        <p:spPr>
          <a:xfrm xmlns:a="http://schemas.openxmlformats.org/drawingml/2006/main">
            <a:off x="552450" y="6286500"/>
            <a:ext cx="3810000" cy="2190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0">
                <a:solidFill>
                  <a:srgbClr val="555555"/>
                </a:solidFill>
                <a:latin typeface="Arial"/>
                <a:ea typeface="Arial"/>
                <a:cs typeface="Arial"/>
              </a:defRPr>
            </a:pPr>
            <a:r>
              <a:t>MCP · RAG · mock DB · LLM provider = Healthy</a:t>
            </a:r>
          </a:p>
        </p:txBody>
      </p:sp>
      <p:sp>
        <p:nvSpPr>
          <p:cNvPr id="8" name="">
            <a:extLst xmlns:a="http://schemas.openxmlformats.org/drawingml/2006/main">
              <a:ext uri="{FF2B5EF4-FFF2-40B4-BE49-F238E27FC236}">
                <a16:creationId xmlns:a16="http://schemas.microsoft.com/office/drawing/2014/main" id="{7548974D-9BBA-427D-99FC-66B4633C7774}"/>
              </a:ext>
            </a:extLst>
          </p:cNvPr>
          <p:cNvSpPr>
            <a:spLocks xmlns:a="http://schemas.openxmlformats.org/drawingml/2006/main" noGrp="1"/>
          </p:cNvSpPr>
          <p:nvPr/>
        </p:nvSpPr>
        <p:spPr>
          <a:xfrm xmlns:a="http://schemas.openxmlformats.org/drawingml/2006/main">
            <a:off x="4962525" y="6038850"/>
            <a:ext cx="66675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1">
                <a:solidFill>
                  <a:srgbClr val="1A7F37"/>
                </a:solidFill>
                <a:latin typeface="Arial"/>
                <a:ea typeface="Arial"/>
                <a:cs typeface="Arial"/>
              </a:defRPr>
            </a:pPr>
            <a:r>
              <a:t>Release pipeline</a:t>
            </a:r>
          </a:p>
        </p:txBody>
      </p:sp>
      <p:sp>
        <p:nvSpPr>
          <p:cNvPr id="9" name="">
            <a:extLst xmlns:a="http://schemas.openxmlformats.org/drawingml/2006/main">
              <a:ext uri="{FF2B5EF4-FFF2-40B4-BE49-F238E27FC236}">
                <a16:creationId xmlns:a16="http://schemas.microsoft.com/office/drawing/2014/main" id="{009D84BA-BAE0-4576-82CC-93D2C34F45F7}"/>
              </a:ext>
            </a:extLst>
          </p:cNvPr>
          <p:cNvSpPr>
            <a:spLocks xmlns:a="http://schemas.openxmlformats.org/drawingml/2006/main" noGrp="1"/>
          </p:cNvSpPr>
          <p:nvPr/>
        </p:nvSpPr>
        <p:spPr>
          <a:xfrm xmlns:a="http://schemas.openxmlformats.org/drawingml/2006/main">
            <a:off x="4962525" y="6286500"/>
            <a:ext cx="6667500" cy="21907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0">
                <a:solidFill>
                  <a:srgbClr val="555555"/>
                </a:solidFill>
                <a:latin typeface="Arial"/>
                <a:ea typeface="Arial"/>
                <a:cs typeface="Arial"/>
              </a:defRPr>
            </a:pPr>
            <a:r>
              <a:t>CI #39 and Hosted smoke #36 passed for commit ac6bed0</a:t>
            </a:r>
          </a:p>
        </p:txBody>
      </p:sp>
      <p:sp>
        <p:nvSpPr>
          <p:cNvPr id="10" name="">
            <a:extLst xmlns:a="http://schemas.openxmlformats.org/drawingml/2006/main">
              <a:ext uri="{FF2B5EF4-FFF2-40B4-BE49-F238E27FC236}">
                <a16:creationId xmlns:a16="http://schemas.microsoft.com/office/drawing/2014/main" id="{E862651E-18B5-4AE7-8460-5E41484ABF75}"/>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09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522309f10bb40de"/>
          <a:stretch xmlns:a="http://schemas.openxmlformats.org/drawingml/2006/main"/>
        </p:blipFill>
        <p:spPr>
          <a:xfrm xmlns:a="http://schemas.openxmlformats.org/drawingml/2006/main">
            <a:off x="552450" y="2636529"/>
            <a:ext cx="3800475" cy="2137392"/>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2211ef2108a4bd9"/>
          <a:stretch xmlns:a="http://schemas.openxmlformats.org/drawingml/2006/main"/>
        </p:blipFill>
        <p:spPr>
          <a:xfrm xmlns:a="http://schemas.openxmlformats.org/drawingml/2006/main">
            <a:off x="4962525" y="1827641"/>
            <a:ext cx="6677025" cy="3755167"/>
          </a:xfrm>
          <a:prstGeom xmlns:a="http://schemas.openxmlformats.org/drawingml/2006/main" prst="rect">
            <a:avLst/>
          </a:prstGeom>
        </p:spPr>
      </p:pic>
    </p:spTree>
    <p:extLst>
      <p:ext uri="{BB962C8B-B14F-4D97-AF65-F5344CB8AC3E}">
        <p14:creationId xmlns:p14="http://schemas.microsoft.com/office/powerpoint/2010/main" val="9100417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F42DE1-54EE-4764-9513-BAABF5C6A9EF}"/>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EVALUATION RESULTS</a:t>
            </a:r>
          </a:p>
        </p:txBody>
      </p:sp>
      <p:sp>
        <p:nvSpPr>
          <p:cNvPr id="2" name="">
            <a:extLst xmlns:a="http://schemas.openxmlformats.org/drawingml/2006/main">
              <a:ext uri="{FF2B5EF4-FFF2-40B4-BE49-F238E27FC236}">
                <a16:creationId xmlns:a16="http://schemas.microsoft.com/office/drawing/2014/main" id="{226EC5FA-249C-495B-A43C-A68B2DF20CD5}"/>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97014"/>
          </a:bodyPr>
          <a:lstStyle xmlns:a="http://schemas.openxmlformats.org/drawingml/2006/main"/>
          <a:p xmlns:a="http://schemas.openxmlformats.org/drawingml/2006/main">
            <a:pPr algn="l">
              <a:defRPr sz="3000" b="1">
                <a:solidFill>
                  <a:srgbClr val="111111"/>
                </a:solidFill>
                <a:latin typeface="Arial"/>
                <a:ea typeface="Arial"/>
                <a:cs typeface="Arial"/>
              </a:defRPr>
            </a:pPr>
            <a:r>
              <a:t>Evaluation measures the exact properties shown in the demo</a:t>
            </a:r>
          </a:p>
        </p:txBody>
      </p:sp>
      <p:sp>
        <p:nvSpPr>
          <p:cNvPr id="3" name="">
            <a:extLst xmlns:a="http://schemas.openxmlformats.org/drawingml/2006/main">
              <a:ext uri="{FF2B5EF4-FFF2-40B4-BE49-F238E27FC236}">
                <a16:creationId xmlns:a16="http://schemas.microsoft.com/office/drawing/2014/main" id="{554446AF-73E5-4A7C-A72C-2F6921A56821}"/>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1CAFC12-ED1C-4263-917E-4D38CF31F075}"/>
              </a:ext>
            </a:extLst>
          </p:cNvPr>
          <p:cNvSpPr>
            <a:spLocks xmlns:a="http://schemas.openxmlformats.org/drawingml/2006/main" noGrp="1"/>
          </p:cNvSpPr>
          <p:nvPr/>
        </p:nvSpPr>
        <p:spPr>
          <a:xfrm xmlns:a="http://schemas.openxmlformats.org/drawingml/2006/main">
            <a:off x="400050" y="1466850"/>
            <a:ext cx="7572375" cy="4667250"/>
          </a:xfrm>
          <a:prstGeom xmlns:a="http://schemas.openxmlformats.org/drawingml/2006/main" prst="rect">
            <a:avLst/>
          </a:prstGeom>
          <a:solidFill xmlns:a="http://schemas.openxmlformats.org/drawingml/2006/main">
            <a:srgbClr val="F7F7F7"/>
          </a:solidFill>
        </p:spPr>
      </p:sp>
      <p:sp>
        <p:nvSpPr>
          <p:cNvPr id="5" name="">
            <a:extLst xmlns:a="http://schemas.openxmlformats.org/drawingml/2006/main">
              <a:ext uri="{FF2B5EF4-FFF2-40B4-BE49-F238E27FC236}">
                <a16:creationId xmlns:a16="http://schemas.microsoft.com/office/drawing/2014/main" id="{9B4B2B9B-9A0C-4090-8D7A-4271390F8E3A}"/>
              </a:ext>
            </a:extLst>
          </p:cNvPr>
          <p:cNvSpPr>
            <a:spLocks xmlns:a="http://schemas.openxmlformats.org/drawingml/2006/main" noGrp="1"/>
          </p:cNvSpPr>
          <p:nvPr/>
        </p:nvSpPr>
        <p:spPr>
          <a:xfrm xmlns:a="http://schemas.openxmlformats.org/drawingml/2006/main">
            <a:off x="8315325" y="1543050"/>
            <a:ext cx="3133725" cy="971550"/>
          </a:xfrm>
          <a:prstGeom xmlns:a="http://schemas.openxmlformats.org/drawingml/2006/main" prst="rect">
            <a:avLst/>
          </a:prstGeom>
          <a:solidFill xmlns:a="http://schemas.openxmlformats.org/drawingml/2006/main">
            <a:srgbClr val="EAF7EF"/>
          </a:solidFill>
        </p:spPr>
      </p:sp>
      <p:sp>
        <p:nvSpPr>
          <p:cNvPr id="6" name="">
            <a:extLst xmlns:a="http://schemas.openxmlformats.org/drawingml/2006/main">
              <a:ext uri="{FF2B5EF4-FFF2-40B4-BE49-F238E27FC236}">
                <a16:creationId xmlns:a16="http://schemas.microsoft.com/office/drawing/2014/main" id="{544F4CBB-B2BF-47F7-98B4-884476A45138}"/>
              </a:ext>
            </a:extLst>
          </p:cNvPr>
          <p:cNvSpPr>
            <a:spLocks xmlns:a="http://schemas.openxmlformats.org/drawingml/2006/main" noGrp="1"/>
          </p:cNvSpPr>
          <p:nvPr/>
        </p:nvSpPr>
        <p:spPr>
          <a:xfrm xmlns:a="http://schemas.openxmlformats.org/drawingml/2006/main">
            <a:off x="8524875" y="1666875"/>
            <a:ext cx="2714625" cy="476250"/>
          </a:xfrm>
          <a:prstGeom xmlns:a="http://schemas.openxmlformats.org/drawingml/2006/main" prst="rect">
            <a:avLst/>
          </a:prstGeom>
        </p:spPr>
        <p:txBody>
          <a:bodyPr xmlns:a="http://schemas.openxmlformats.org/drawingml/2006/main" spcFirstLastPara="1" lIns="0" tIns="0" rIns="0" bIns="0" anchor="t">
            <a:normAutofit fontScale="94697"/>
          </a:bodyPr>
          <a:lstStyle xmlns:a="http://schemas.openxmlformats.org/drawingml/2006/main"/>
          <a:p xmlns:a="http://schemas.openxmlformats.org/drawingml/2006/main">
            <a:pPr algn="l">
              <a:defRPr sz="3300" b="1">
                <a:solidFill>
                  <a:srgbClr val="1A7F37"/>
                </a:solidFill>
                <a:latin typeface="Arial"/>
                <a:ea typeface="Arial"/>
                <a:cs typeface="Arial"/>
              </a:defRPr>
            </a:pPr>
            <a:r>
              <a:t>25 / 25</a:t>
            </a:r>
          </a:p>
        </p:txBody>
      </p:sp>
      <p:sp>
        <p:nvSpPr>
          <p:cNvPr id="7" name="">
            <a:extLst xmlns:a="http://schemas.openxmlformats.org/drawingml/2006/main">
              <a:ext uri="{FF2B5EF4-FFF2-40B4-BE49-F238E27FC236}">
                <a16:creationId xmlns:a16="http://schemas.microsoft.com/office/drawing/2014/main" id="{038A7ECE-69CD-4691-87B1-D11104685C67}"/>
              </a:ext>
            </a:extLst>
          </p:cNvPr>
          <p:cNvSpPr>
            <a:spLocks xmlns:a="http://schemas.openxmlformats.org/drawingml/2006/main" noGrp="1"/>
          </p:cNvSpPr>
          <p:nvPr/>
        </p:nvSpPr>
        <p:spPr>
          <a:xfrm xmlns:a="http://schemas.openxmlformats.org/drawingml/2006/main">
            <a:off x="8524875" y="2152650"/>
            <a:ext cx="2714625" cy="238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1A7F37"/>
                </a:solidFill>
                <a:latin typeface="Arial"/>
                <a:ea typeface="Arial"/>
                <a:cs typeface="Arial"/>
              </a:defRPr>
            </a:pPr>
            <a:r>
              <a:t>gold cases completed</a:t>
            </a:r>
          </a:p>
        </p:txBody>
      </p:sp>
      <p:sp>
        <p:nvSpPr>
          <p:cNvPr id="8" name="">
            <a:extLst xmlns:a="http://schemas.openxmlformats.org/drawingml/2006/main">
              <a:ext uri="{FF2B5EF4-FFF2-40B4-BE49-F238E27FC236}">
                <a16:creationId xmlns:a16="http://schemas.microsoft.com/office/drawing/2014/main" id="{7DA7BDA5-2F3A-4E5C-9B92-9BFBD1752CE6}"/>
              </a:ext>
            </a:extLst>
          </p:cNvPr>
          <p:cNvSpPr>
            <a:spLocks xmlns:a="http://schemas.openxmlformats.org/drawingml/2006/main" noGrp="1"/>
          </p:cNvSpPr>
          <p:nvPr/>
        </p:nvSpPr>
        <p:spPr>
          <a:xfrm xmlns:a="http://schemas.openxmlformats.org/drawingml/2006/main">
            <a:off x="8315325" y="2724150"/>
            <a:ext cx="3133725" cy="971550"/>
          </a:xfrm>
          <a:prstGeom xmlns:a="http://schemas.openxmlformats.org/drawingml/2006/main" prst="rect">
            <a:avLst/>
          </a:prstGeom>
          <a:solidFill xmlns:a="http://schemas.openxmlformats.org/drawingml/2006/main">
            <a:srgbClr val="EAF2FF"/>
          </a:solidFill>
        </p:spPr>
      </p:sp>
      <p:sp>
        <p:nvSpPr>
          <p:cNvPr id="9" name="">
            <a:extLst xmlns:a="http://schemas.openxmlformats.org/drawingml/2006/main">
              <a:ext uri="{FF2B5EF4-FFF2-40B4-BE49-F238E27FC236}">
                <a16:creationId xmlns:a16="http://schemas.microsoft.com/office/drawing/2014/main" id="{B4D7917D-0749-4632-868C-D4E9E0CDCD0B}"/>
              </a:ext>
            </a:extLst>
          </p:cNvPr>
          <p:cNvSpPr>
            <a:spLocks xmlns:a="http://schemas.openxmlformats.org/drawingml/2006/main" noGrp="1"/>
          </p:cNvSpPr>
          <p:nvPr/>
        </p:nvSpPr>
        <p:spPr>
          <a:xfrm xmlns:a="http://schemas.openxmlformats.org/drawingml/2006/main">
            <a:off x="8524875" y="2847975"/>
            <a:ext cx="2714625" cy="476250"/>
          </a:xfrm>
          <a:prstGeom xmlns:a="http://schemas.openxmlformats.org/drawingml/2006/main" prst="rect">
            <a:avLst/>
          </a:prstGeom>
        </p:spPr>
        <p:txBody>
          <a:bodyPr xmlns:a="http://schemas.openxmlformats.org/drawingml/2006/main" spcFirstLastPara="1" lIns="0" tIns="0" rIns="0" bIns="0" anchor="t">
            <a:normAutofit fontScale="94697"/>
          </a:bodyPr>
          <a:lstStyle xmlns:a="http://schemas.openxmlformats.org/drawingml/2006/main"/>
          <a:p xmlns:a="http://schemas.openxmlformats.org/drawingml/2006/main">
            <a:pPr algn="l">
              <a:defRPr sz="3300" b="1">
                <a:solidFill>
                  <a:srgbClr val="0969DA"/>
                </a:solidFill>
                <a:latin typeface="Arial"/>
                <a:ea typeface="Arial"/>
                <a:cs typeface="Arial"/>
              </a:defRPr>
            </a:pPr>
            <a:r>
              <a:t>100%</a:t>
            </a:r>
          </a:p>
        </p:txBody>
      </p:sp>
      <p:sp>
        <p:nvSpPr>
          <p:cNvPr id="10" name="">
            <a:extLst xmlns:a="http://schemas.openxmlformats.org/drawingml/2006/main">
              <a:ext uri="{FF2B5EF4-FFF2-40B4-BE49-F238E27FC236}">
                <a16:creationId xmlns:a16="http://schemas.microsoft.com/office/drawing/2014/main" id="{DE1EC5CB-1703-47A1-935A-5FD7DBA624F3}"/>
              </a:ext>
            </a:extLst>
          </p:cNvPr>
          <p:cNvSpPr>
            <a:spLocks xmlns:a="http://schemas.openxmlformats.org/drawingml/2006/main" noGrp="1"/>
          </p:cNvSpPr>
          <p:nvPr/>
        </p:nvSpPr>
        <p:spPr>
          <a:xfrm xmlns:a="http://schemas.openxmlformats.org/drawingml/2006/main">
            <a:off x="8524875" y="3333750"/>
            <a:ext cx="2714625" cy="238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0969DA"/>
                </a:solidFill>
                <a:latin typeface="Arial"/>
                <a:ea typeface="Arial"/>
                <a:cs typeface="Arial"/>
              </a:defRPr>
            </a:pPr>
            <a:r>
              <a:t>groundedness + citation accuracy</a:t>
            </a:r>
          </a:p>
        </p:txBody>
      </p:sp>
      <p:sp>
        <p:nvSpPr>
          <p:cNvPr id="11" name="">
            <a:extLst xmlns:a="http://schemas.openxmlformats.org/drawingml/2006/main">
              <a:ext uri="{FF2B5EF4-FFF2-40B4-BE49-F238E27FC236}">
                <a16:creationId xmlns:a16="http://schemas.microsoft.com/office/drawing/2014/main" id="{1747E10A-310E-4743-A694-1ED0F3E573FB}"/>
              </a:ext>
            </a:extLst>
          </p:cNvPr>
          <p:cNvSpPr>
            <a:spLocks xmlns:a="http://schemas.openxmlformats.org/drawingml/2006/main" noGrp="1"/>
          </p:cNvSpPr>
          <p:nvPr/>
        </p:nvSpPr>
        <p:spPr>
          <a:xfrm xmlns:a="http://schemas.openxmlformats.org/drawingml/2006/main">
            <a:off x="8315325" y="3905250"/>
            <a:ext cx="3133725" cy="971550"/>
          </a:xfrm>
          <a:prstGeom xmlns:a="http://schemas.openxmlformats.org/drawingml/2006/main" prst="rect">
            <a:avLst/>
          </a:prstGeom>
          <a:solidFill xmlns:a="http://schemas.openxmlformats.org/drawingml/2006/main">
            <a:srgbClr val="EAF2FF"/>
          </a:solidFill>
        </p:spPr>
      </p:sp>
      <p:sp>
        <p:nvSpPr>
          <p:cNvPr id="12" name="">
            <a:extLst xmlns:a="http://schemas.openxmlformats.org/drawingml/2006/main">
              <a:ext uri="{FF2B5EF4-FFF2-40B4-BE49-F238E27FC236}">
                <a16:creationId xmlns:a16="http://schemas.microsoft.com/office/drawing/2014/main" id="{9365157F-D719-4568-B246-4F6265E5F163}"/>
              </a:ext>
            </a:extLst>
          </p:cNvPr>
          <p:cNvSpPr>
            <a:spLocks xmlns:a="http://schemas.openxmlformats.org/drawingml/2006/main" noGrp="1"/>
          </p:cNvSpPr>
          <p:nvPr/>
        </p:nvSpPr>
        <p:spPr>
          <a:xfrm xmlns:a="http://schemas.openxmlformats.org/drawingml/2006/main">
            <a:off x="8524875" y="4029075"/>
            <a:ext cx="2714625" cy="476250"/>
          </a:xfrm>
          <a:prstGeom xmlns:a="http://schemas.openxmlformats.org/drawingml/2006/main" prst="rect">
            <a:avLst/>
          </a:prstGeom>
        </p:spPr>
        <p:txBody>
          <a:bodyPr xmlns:a="http://schemas.openxmlformats.org/drawingml/2006/main" spcFirstLastPara="1" lIns="0" tIns="0" rIns="0" bIns="0" anchor="t">
            <a:normAutofit fontScale="94697"/>
          </a:bodyPr>
          <a:lstStyle xmlns:a="http://schemas.openxmlformats.org/drawingml/2006/main"/>
          <a:p xmlns:a="http://schemas.openxmlformats.org/drawingml/2006/main">
            <a:pPr algn="l">
              <a:defRPr sz="3300" b="1">
                <a:solidFill>
                  <a:srgbClr val="0969DA"/>
                </a:solidFill>
                <a:latin typeface="Arial"/>
                <a:ea typeface="Arial"/>
                <a:cs typeface="Arial"/>
              </a:defRPr>
            </a:pPr>
            <a:r>
              <a:t>100%</a:t>
            </a:r>
          </a:p>
        </p:txBody>
      </p:sp>
      <p:sp>
        <p:nvSpPr>
          <p:cNvPr id="13" name="">
            <a:extLst xmlns:a="http://schemas.openxmlformats.org/drawingml/2006/main">
              <a:ext uri="{FF2B5EF4-FFF2-40B4-BE49-F238E27FC236}">
                <a16:creationId xmlns:a16="http://schemas.microsoft.com/office/drawing/2014/main" id="{05FAD45F-CFE0-4427-8556-8F2A15B86700}"/>
              </a:ext>
            </a:extLst>
          </p:cNvPr>
          <p:cNvSpPr>
            <a:spLocks xmlns:a="http://schemas.openxmlformats.org/drawingml/2006/main" noGrp="1"/>
          </p:cNvSpPr>
          <p:nvPr/>
        </p:nvSpPr>
        <p:spPr>
          <a:xfrm xmlns:a="http://schemas.openxmlformats.org/drawingml/2006/main">
            <a:off x="8524875" y="4514850"/>
            <a:ext cx="2714625" cy="238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0969DA"/>
                </a:solidFill>
                <a:latin typeface="Arial"/>
                <a:ea typeface="Arial"/>
                <a:cs typeface="Arial"/>
              </a:defRPr>
            </a:pPr>
            <a:r>
              <a:t>tool selection + workflow completion</a:t>
            </a:r>
          </a:p>
        </p:txBody>
      </p:sp>
      <p:sp>
        <p:nvSpPr>
          <p:cNvPr id="14" name="">
            <a:extLst xmlns:a="http://schemas.openxmlformats.org/drawingml/2006/main">
              <a:ext uri="{FF2B5EF4-FFF2-40B4-BE49-F238E27FC236}">
                <a16:creationId xmlns:a16="http://schemas.microsoft.com/office/drawing/2014/main" id="{DE99FA5E-29C3-4650-A0E6-701A59EC163A}"/>
              </a:ext>
            </a:extLst>
          </p:cNvPr>
          <p:cNvSpPr>
            <a:spLocks xmlns:a="http://schemas.openxmlformats.org/drawingml/2006/main" noGrp="1"/>
          </p:cNvSpPr>
          <p:nvPr/>
        </p:nvSpPr>
        <p:spPr>
          <a:xfrm xmlns:a="http://schemas.openxmlformats.org/drawingml/2006/main">
            <a:off x="8315325" y="5086350"/>
            <a:ext cx="3133725" cy="971550"/>
          </a:xfrm>
          <a:prstGeom xmlns:a="http://schemas.openxmlformats.org/drawingml/2006/main" prst="rect">
            <a:avLst/>
          </a:prstGeom>
          <a:solidFill xmlns:a="http://schemas.openxmlformats.org/drawingml/2006/main">
            <a:srgbClr val="FFF6D8"/>
          </a:solidFill>
        </p:spPr>
      </p:sp>
      <p:sp>
        <p:nvSpPr>
          <p:cNvPr id="15" name="">
            <a:extLst xmlns:a="http://schemas.openxmlformats.org/drawingml/2006/main">
              <a:ext uri="{FF2B5EF4-FFF2-40B4-BE49-F238E27FC236}">
                <a16:creationId xmlns:a16="http://schemas.microsoft.com/office/drawing/2014/main" id="{3CA699C0-553E-4086-A1DA-88A2F410B00A}"/>
              </a:ext>
            </a:extLst>
          </p:cNvPr>
          <p:cNvSpPr>
            <a:spLocks xmlns:a="http://schemas.openxmlformats.org/drawingml/2006/main" noGrp="1"/>
          </p:cNvSpPr>
          <p:nvPr/>
        </p:nvSpPr>
        <p:spPr>
          <a:xfrm xmlns:a="http://schemas.openxmlformats.org/drawingml/2006/main">
            <a:off x="8524875" y="5210175"/>
            <a:ext cx="2714625" cy="476250"/>
          </a:xfrm>
          <a:prstGeom xmlns:a="http://schemas.openxmlformats.org/drawingml/2006/main" prst="rect">
            <a:avLst/>
          </a:prstGeom>
        </p:spPr>
        <p:txBody>
          <a:bodyPr xmlns:a="http://schemas.openxmlformats.org/drawingml/2006/main" spcFirstLastPara="1" lIns="0" tIns="0" rIns="0" bIns="0" anchor="t">
            <a:normAutofit fontScale="94697"/>
          </a:bodyPr>
          <a:lstStyle xmlns:a="http://schemas.openxmlformats.org/drawingml/2006/main"/>
          <a:p xmlns:a="http://schemas.openxmlformats.org/drawingml/2006/main">
            <a:pPr algn="l">
              <a:defRPr sz="3300" b="1">
                <a:solidFill>
                  <a:srgbClr val="9A6700"/>
                </a:solidFill>
                <a:latin typeface="Arial"/>
                <a:ea typeface="Arial"/>
                <a:cs typeface="Arial"/>
              </a:defRPr>
            </a:pPr>
            <a:r>
              <a:t>100%</a:t>
            </a:r>
          </a:p>
        </p:txBody>
      </p:sp>
      <p:sp>
        <p:nvSpPr>
          <p:cNvPr id="16" name="">
            <a:extLst xmlns:a="http://schemas.openxmlformats.org/drawingml/2006/main">
              <a:ext uri="{FF2B5EF4-FFF2-40B4-BE49-F238E27FC236}">
                <a16:creationId xmlns:a16="http://schemas.microsoft.com/office/drawing/2014/main" id="{230E8CDC-2C08-466C-9BA2-43B8063EFB0C}"/>
              </a:ext>
            </a:extLst>
          </p:cNvPr>
          <p:cNvSpPr>
            <a:spLocks xmlns:a="http://schemas.openxmlformats.org/drawingml/2006/main" noGrp="1"/>
          </p:cNvSpPr>
          <p:nvPr/>
        </p:nvSpPr>
        <p:spPr>
          <a:xfrm xmlns:a="http://schemas.openxmlformats.org/drawingml/2006/main">
            <a:off x="8524875" y="5695950"/>
            <a:ext cx="2714625" cy="2381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350" b="0">
                <a:solidFill>
                  <a:srgbClr val="9A6700"/>
                </a:solidFill>
                <a:latin typeface="Arial"/>
                <a:ea typeface="Arial"/>
                <a:cs typeface="Arial"/>
              </a:defRPr>
            </a:pPr>
            <a:r>
              <a:t>action-safety pass rate</a:t>
            </a:r>
          </a:p>
        </p:txBody>
      </p:sp>
      <p:sp>
        <p:nvSpPr>
          <p:cNvPr id="17" name="">
            <a:extLst xmlns:a="http://schemas.openxmlformats.org/drawingml/2006/main">
              <a:ext uri="{FF2B5EF4-FFF2-40B4-BE49-F238E27FC236}">
                <a16:creationId xmlns:a16="http://schemas.microsoft.com/office/drawing/2014/main" id="{26E55DAE-B23A-4C56-A36A-A0BAFBF18BCC}"/>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10</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9741a9d24e34c9c"/>
          <a:stretch xmlns:a="http://schemas.openxmlformats.org/drawingml/2006/main"/>
        </p:blipFill>
        <p:spPr>
          <a:xfrm xmlns:a="http://schemas.openxmlformats.org/drawingml/2006/main">
            <a:off x="552450" y="1756828"/>
            <a:ext cx="7267575" cy="4087293"/>
          </a:xfrm>
          <a:prstGeom xmlns:a="http://schemas.openxmlformats.org/drawingml/2006/main" prst="rect">
            <a:avLst/>
          </a:prstGeom>
        </p:spPr>
      </p:pic>
    </p:spTree>
    <p:extLst>
      <p:ext uri="{BB962C8B-B14F-4D97-AF65-F5344CB8AC3E}">
        <p14:creationId xmlns:p14="http://schemas.microsoft.com/office/powerpoint/2010/main" val="14303630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F75FDC-52BE-4FC0-8757-DA1C7F9906D4}"/>
              </a:ext>
            </a:extLst>
          </p:cNvPr>
          <p:cNvSpPr>
            <a:spLocks xmlns:a="http://schemas.openxmlformats.org/drawingml/2006/main" noGrp="1"/>
          </p:cNvSpPr>
          <p:nvPr/>
        </p:nvSpPr>
        <p:spPr>
          <a:xfrm xmlns:a="http://schemas.openxmlformats.org/drawingml/2006/main">
            <a:off x="400050" y="266700"/>
            <a:ext cx="3429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050" b="1">
                <a:solidFill>
                  <a:srgbClr val="0969DA"/>
                </a:solidFill>
                <a:latin typeface="Arial"/>
                <a:ea typeface="Arial"/>
                <a:cs typeface="Arial"/>
              </a:defRPr>
            </a:pPr>
            <a:r>
              <a:t>CONCLUSION</a:t>
            </a:r>
          </a:p>
        </p:txBody>
      </p:sp>
      <p:sp>
        <p:nvSpPr>
          <p:cNvPr id="2" name="">
            <a:extLst xmlns:a="http://schemas.openxmlformats.org/drawingml/2006/main">
              <a:ext uri="{FF2B5EF4-FFF2-40B4-BE49-F238E27FC236}">
                <a16:creationId xmlns:a16="http://schemas.microsoft.com/office/drawing/2014/main" id="{06CF5084-E96B-4DF7-B0E1-DAE04A17A16A}"/>
              </a:ext>
            </a:extLst>
          </p:cNvPr>
          <p:cNvSpPr>
            <a:spLocks xmlns:a="http://schemas.openxmlformats.org/drawingml/2006/main" noGrp="1"/>
          </p:cNvSpPr>
          <p:nvPr/>
        </p:nvSpPr>
        <p:spPr>
          <a:xfrm xmlns:a="http://schemas.openxmlformats.org/drawingml/2006/main">
            <a:off x="400050" y="542925"/>
            <a:ext cx="10763250" cy="6286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3000" b="1">
                <a:solidFill>
                  <a:srgbClr val="111111"/>
                </a:solidFill>
                <a:latin typeface="Arial"/>
                <a:ea typeface="Arial"/>
                <a:cs typeface="Arial"/>
              </a:defRPr>
            </a:pPr>
            <a:r>
              <a:t>Production-shaped and deliberately bounded</a:t>
            </a:r>
          </a:p>
        </p:txBody>
      </p:sp>
      <p:sp>
        <p:nvSpPr>
          <p:cNvPr id="3" name="">
            <a:extLst xmlns:a="http://schemas.openxmlformats.org/drawingml/2006/main">
              <a:ext uri="{FF2B5EF4-FFF2-40B4-BE49-F238E27FC236}">
                <a16:creationId xmlns:a16="http://schemas.microsoft.com/office/drawing/2014/main" id="{3521121B-5757-4AC7-8887-C36BF19CCE7D}"/>
              </a:ext>
            </a:extLst>
          </p:cNvPr>
          <p:cNvSpPr>
            <a:spLocks xmlns:a="http://schemas.openxmlformats.org/drawingml/2006/main" noGrp="1"/>
          </p:cNvSpPr>
          <p:nvPr/>
        </p:nvSpPr>
        <p:spPr>
          <a:xfrm xmlns:a="http://schemas.openxmlformats.org/drawingml/2006/main">
            <a:off x="400050" y="1238250"/>
            <a:ext cx="11391900" cy="9525"/>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41E1E62-C822-4334-989C-74DDA6FCC0D2}"/>
              </a:ext>
            </a:extLst>
          </p:cNvPr>
          <p:cNvSpPr>
            <a:spLocks xmlns:a="http://schemas.openxmlformats.org/drawingml/2006/main" noGrp="1"/>
          </p:cNvSpPr>
          <p:nvPr/>
        </p:nvSpPr>
        <p:spPr>
          <a:xfrm xmlns:a="http://schemas.openxmlformats.org/drawingml/2006/main">
            <a:off x="400050" y="1695450"/>
            <a:ext cx="2581275" cy="2524125"/>
          </a:xfrm>
          <a:prstGeom xmlns:a="http://schemas.openxmlformats.org/drawingml/2006/main" prst="rect">
            <a:avLst/>
          </a:prstGeom>
          <a:solidFill xmlns:a="http://schemas.openxmlformats.org/drawingml/2006/main">
            <a:srgbClr val="EAF2FF"/>
          </a:solidFill>
        </p:spPr>
      </p:sp>
      <p:sp>
        <p:nvSpPr>
          <p:cNvPr id="5" name="">
            <a:extLst xmlns:a="http://schemas.openxmlformats.org/drawingml/2006/main">
              <a:ext uri="{FF2B5EF4-FFF2-40B4-BE49-F238E27FC236}">
                <a16:creationId xmlns:a16="http://schemas.microsoft.com/office/drawing/2014/main" id="{8A82EF70-1354-4AE0-86CE-61D32B990228}"/>
              </a:ext>
            </a:extLst>
          </p:cNvPr>
          <p:cNvSpPr>
            <a:spLocks xmlns:a="http://schemas.openxmlformats.org/drawingml/2006/main" noGrp="1"/>
          </p:cNvSpPr>
          <p:nvPr/>
        </p:nvSpPr>
        <p:spPr>
          <a:xfrm xmlns:a="http://schemas.openxmlformats.org/drawingml/2006/main">
            <a:off x="628650" y="1933575"/>
            <a:ext cx="2095500" cy="7810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4800" b="1">
                <a:solidFill>
                  <a:srgbClr val="0969DA"/>
                </a:solidFill>
                <a:latin typeface="Arial"/>
                <a:ea typeface="Arial"/>
                <a:cs typeface="Arial"/>
              </a:defRPr>
            </a:pPr>
            <a:r>
              <a:t>2</a:t>
            </a:r>
          </a:p>
        </p:txBody>
      </p:sp>
      <p:sp>
        <p:nvSpPr>
          <p:cNvPr id="6" name="">
            <a:extLst xmlns:a="http://schemas.openxmlformats.org/drawingml/2006/main">
              <a:ext uri="{FF2B5EF4-FFF2-40B4-BE49-F238E27FC236}">
                <a16:creationId xmlns:a16="http://schemas.microsoft.com/office/drawing/2014/main" id="{4D50610C-4302-4329-A447-9D955790B6E9}"/>
              </a:ext>
            </a:extLst>
          </p:cNvPr>
          <p:cNvSpPr>
            <a:spLocks xmlns:a="http://schemas.openxmlformats.org/drawingml/2006/main" noGrp="1"/>
          </p:cNvSpPr>
          <p:nvPr/>
        </p:nvSpPr>
        <p:spPr>
          <a:xfrm xmlns:a="http://schemas.openxmlformats.org/drawingml/2006/main">
            <a:off x="628650" y="2952750"/>
            <a:ext cx="2095500" cy="8477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agentic tasks completed end to end</a:t>
            </a:r>
          </a:p>
        </p:txBody>
      </p:sp>
      <p:sp>
        <p:nvSpPr>
          <p:cNvPr id="7" name="">
            <a:extLst xmlns:a="http://schemas.openxmlformats.org/drawingml/2006/main">
              <a:ext uri="{FF2B5EF4-FFF2-40B4-BE49-F238E27FC236}">
                <a16:creationId xmlns:a16="http://schemas.microsoft.com/office/drawing/2014/main" id="{E399BBB3-13F3-4926-9ECC-D4260A8BDBF5}"/>
              </a:ext>
            </a:extLst>
          </p:cNvPr>
          <p:cNvSpPr>
            <a:spLocks xmlns:a="http://schemas.openxmlformats.org/drawingml/2006/main" noGrp="1"/>
          </p:cNvSpPr>
          <p:nvPr/>
        </p:nvSpPr>
        <p:spPr>
          <a:xfrm xmlns:a="http://schemas.openxmlformats.org/drawingml/2006/main">
            <a:off x="3333750" y="1695450"/>
            <a:ext cx="2581275" cy="2524125"/>
          </a:xfrm>
          <a:prstGeom xmlns:a="http://schemas.openxmlformats.org/drawingml/2006/main" prst="rect">
            <a:avLst/>
          </a:prstGeom>
          <a:solidFill xmlns:a="http://schemas.openxmlformats.org/drawingml/2006/main">
            <a:srgbClr val="EAF7EF"/>
          </a:solidFill>
        </p:spPr>
      </p:sp>
      <p:sp>
        <p:nvSpPr>
          <p:cNvPr id="8" name="">
            <a:extLst xmlns:a="http://schemas.openxmlformats.org/drawingml/2006/main">
              <a:ext uri="{FF2B5EF4-FFF2-40B4-BE49-F238E27FC236}">
                <a16:creationId xmlns:a16="http://schemas.microsoft.com/office/drawing/2014/main" id="{B2C1B219-8693-4360-BF1D-F3995FF773BE}"/>
              </a:ext>
            </a:extLst>
          </p:cNvPr>
          <p:cNvSpPr>
            <a:spLocks xmlns:a="http://schemas.openxmlformats.org/drawingml/2006/main" noGrp="1"/>
          </p:cNvSpPr>
          <p:nvPr/>
        </p:nvSpPr>
        <p:spPr>
          <a:xfrm xmlns:a="http://schemas.openxmlformats.org/drawingml/2006/main">
            <a:off x="3562350" y="1933575"/>
            <a:ext cx="2095500" cy="7810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4800" b="1">
                <a:solidFill>
                  <a:srgbClr val="1A7F37"/>
                </a:solidFill>
                <a:latin typeface="Arial"/>
                <a:ea typeface="Arial"/>
                <a:cs typeface="Arial"/>
              </a:defRPr>
            </a:pPr>
            <a:r>
              <a:t>8</a:t>
            </a:r>
          </a:p>
        </p:txBody>
      </p:sp>
      <p:sp>
        <p:nvSpPr>
          <p:cNvPr id="9" name="">
            <a:extLst xmlns:a="http://schemas.openxmlformats.org/drawingml/2006/main">
              <a:ext uri="{FF2B5EF4-FFF2-40B4-BE49-F238E27FC236}">
                <a16:creationId xmlns:a16="http://schemas.microsoft.com/office/drawing/2014/main" id="{5F663694-E546-4FF1-BA33-80C289112FEF}"/>
              </a:ext>
            </a:extLst>
          </p:cNvPr>
          <p:cNvSpPr>
            <a:spLocks xmlns:a="http://schemas.openxmlformats.org/drawingml/2006/main" noGrp="1"/>
          </p:cNvSpPr>
          <p:nvPr/>
        </p:nvSpPr>
        <p:spPr>
          <a:xfrm xmlns:a="http://schemas.openxmlformats.org/drawingml/2006/main">
            <a:off x="3562350" y="2952750"/>
            <a:ext cx="2095500" cy="8477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MCP operations in each final task</a:t>
            </a:r>
          </a:p>
        </p:txBody>
      </p:sp>
      <p:sp>
        <p:nvSpPr>
          <p:cNvPr id="10" name="">
            <a:extLst xmlns:a="http://schemas.openxmlformats.org/drawingml/2006/main">
              <a:ext uri="{FF2B5EF4-FFF2-40B4-BE49-F238E27FC236}">
                <a16:creationId xmlns:a16="http://schemas.microsoft.com/office/drawing/2014/main" id="{DED2461E-3B10-4BD3-9A0D-DA91914B3386}"/>
              </a:ext>
            </a:extLst>
          </p:cNvPr>
          <p:cNvSpPr>
            <a:spLocks xmlns:a="http://schemas.openxmlformats.org/drawingml/2006/main" noGrp="1"/>
          </p:cNvSpPr>
          <p:nvPr/>
        </p:nvSpPr>
        <p:spPr>
          <a:xfrm xmlns:a="http://schemas.openxmlformats.org/drawingml/2006/main">
            <a:off x="6267450" y="1695450"/>
            <a:ext cx="2581275" cy="2524125"/>
          </a:xfrm>
          <a:prstGeom xmlns:a="http://schemas.openxmlformats.org/drawingml/2006/main" prst="rect">
            <a:avLst/>
          </a:prstGeom>
          <a:solidFill xmlns:a="http://schemas.openxmlformats.org/drawingml/2006/main">
            <a:srgbClr val="EAF2FF"/>
          </a:solidFill>
        </p:spPr>
      </p:sp>
      <p:sp>
        <p:nvSpPr>
          <p:cNvPr id="11" name="">
            <a:extLst xmlns:a="http://schemas.openxmlformats.org/drawingml/2006/main">
              <a:ext uri="{FF2B5EF4-FFF2-40B4-BE49-F238E27FC236}">
                <a16:creationId xmlns:a16="http://schemas.microsoft.com/office/drawing/2014/main" id="{07B79B3F-29D0-414C-9AAD-D4F13DF246B1}"/>
              </a:ext>
            </a:extLst>
          </p:cNvPr>
          <p:cNvSpPr>
            <a:spLocks xmlns:a="http://schemas.openxmlformats.org/drawingml/2006/main" noGrp="1"/>
          </p:cNvSpPr>
          <p:nvPr/>
        </p:nvSpPr>
        <p:spPr>
          <a:xfrm xmlns:a="http://schemas.openxmlformats.org/drawingml/2006/main">
            <a:off x="6496050" y="1933575"/>
            <a:ext cx="2095500" cy="7810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4800" b="1">
                <a:solidFill>
                  <a:srgbClr val="0969DA"/>
                </a:solidFill>
                <a:latin typeface="Arial"/>
                <a:ea typeface="Arial"/>
                <a:cs typeface="Arial"/>
              </a:defRPr>
            </a:pPr>
            <a:r>
              <a:t>6</a:t>
            </a:r>
          </a:p>
        </p:txBody>
      </p:sp>
      <p:sp>
        <p:nvSpPr>
          <p:cNvPr id="12" name="">
            <a:extLst xmlns:a="http://schemas.openxmlformats.org/drawingml/2006/main">
              <a:ext uri="{FF2B5EF4-FFF2-40B4-BE49-F238E27FC236}">
                <a16:creationId xmlns:a16="http://schemas.microsoft.com/office/drawing/2014/main" id="{8EF68F3D-F7D4-4A82-9050-01252FAFFA37}"/>
              </a:ext>
            </a:extLst>
          </p:cNvPr>
          <p:cNvSpPr>
            <a:spLocks xmlns:a="http://schemas.openxmlformats.org/drawingml/2006/main" noGrp="1"/>
          </p:cNvSpPr>
          <p:nvPr/>
        </p:nvSpPr>
        <p:spPr>
          <a:xfrm xmlns:a="http://schemas.openxmlformats.org/drawingml/2006/main">
            <a:off x="6496050" y="2952750"/>
            <a:ext cx="2095500" cy="8477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exact citations across both tasks</a:t>
            </a:r>
          </a:p>
        </p:txBody>
      </p:sp>
      <p:sp>
        <p:nvSpPr>
          <p:cNvPr id="13" name="">
            <a:extLst xmlns:a="http://schemas.openxmlformats.org/drawingml/2006/main">
              <a:ext uri="{FF2B5EF4-FFF2-40B4-BE49-F238E27FC236}">
                <a16:creationId xmlns:a16="http://schemas.microsoft.com/office/drawing/2014/main" id="{66BB7900-B41D-4997-A0F1-03E6EF128DCE}"/>
              </a:ext>
            </a:extLst>
          </p:cNvPr>
          <p:cNvSpPr>
            <a:spLocks xmlns:a="http://schemas.openxmlformats.org/drawingml/2006/main" noGrp="1"/>
          </p:cNvSpPr>
          <p:nvPr/>
        </p:nvSpPr>
        <p:spPr>
          <a:xfrm xmlns:a="http://schemas.openxmlformats.org/drawingml/2006/main">
            <a:off x="9210675" y="1695450"/>
            <a:ext cx="2581275" cy="2524125"/>
          </a:xfrm>
          <a:prstGeom xmlns:a="http://schemas.openxmlformats.org/drawingml/2006/main" prst="rect">
            <a:avLst/>
          </a:prstGeom>
          <a:solidFill xmlns:a="http://schemas.openxmlformats.org/drawingml/2006/main">
            <a:srgbClr val="FFF6D8"/>
          </a:solidFill>
        </p:spPr>
      </p:sp>
      <p:sp>
        <p:nvSpPr>
          <p:cNvPr id="14" name="">
            <a:extLst xmlns:a="http://schemas.openxmlformats.org/drawingml/2006/main">
              <a:ext uri="{FF2B5EF4-FFF2-40B4-BE49-F238E27FC236}">
                <a16:creationId xmlns:a16="http://schemas.microsoft.com/office/drawing/2014/main" id="{6EA19B31-3354-4FEE-B93D-C0478A0BF868}"/>
              </a:ext>
            </a:extLst>
          </p:cNvPr>
          <p:cNvSpPr>
            <a:spLocks xmlns:a="http://schemas.openxmlformats.org/drawingml/2006/main" noGrp="1"/>
          </p:cNvSpPr>
          <p:nvPr/>
        </p:nvSpPr>
        <p:spPr>
          <a:xfrm xmlns:a="http://schemas.openxmlformats.org/drawingml/2006/main">
            <a:off x="9439275" y="1933575"/>
            <a:ext cx="2095500" cy="78105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4800" b="1">
                <a:solidFill>
                  <a:srgbClr val="9A6700"/>
                </a:solidFill>
                <a:latin typeface="Arial"/>
                <a:ea typeface="Arial"/>
                <a:cs typeface="Arial"/>
              </a:defRPr>
            </a:pPr>
            <a:r>
              <a:t>0</a:t>
            </a:r>
          </a:p>
        </p:txBody>
      </p:sp>
      <p:sp>
        <p:nvSpPr>
          <p:cNvPr id="15" name="">
            <a:extLst xmlns:a="http://schemas.openxmlformats.org/drawingml/2006/main">
              <a:ext uri="{FF2B5EF4-FFF2-40B4-BE49-F238E27FC236}">
                <a16:creationId xmlns:a16="http://schemas.microsoft.com/office/drawing/2014/main" id="{A38C01E1-752D-41FF-A81D-18D1C04DCB62}"/>
              </a:ext>
            </a:extLst>
          </p:cNvPr>
          <p:cNvSpPr>
            <a:spLocks xmlns:a="http://schemas.openxmlformats.org/drawingml/2006/main" noGrp="1"/>
          </p:cNvSpPr>
          <p:nvPr/>
        </p:nvSpPr>
        <p:spPr>
          <a:xfrm xmlns:a="http://schemas.openxmlformats.org/drawingml/2006/main">
            <a:off x="9439275" y="2952750"/>
            <a:ext cx="2095500" cy="847725"/>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650" b="1">
                <a:solidFill>
                  <a:srgbClr val="111111"/>
                </a:solidFill>
                <a:latin typeface="Arial"/>
                <a:ea typeface="Arial"/>
                <a:cs typeface="Arial"/>
              </a:defRPr>
            </a:pPr>
            <a:r>
              <a:t>emails sent or PTO records changed</a:t>
            </a:r>
          </a:p>
        </p:txBody>
      </p:sp>
      <p:sp>
        <p:nvSpPr>
          <p:cNvPr id="16" name="">
            <a:extLst xmlns:a="http://schemas.openxmlformats.org/drawingml/2006/main">
              <a:ext uri="{FF2B5EF4-FFF2-40B4-BE49-F238E27FC236}">
                <a16:creationId xmlns:a16="http://schemas.microsoft.com/office/drawing/2014/main" id="{13FE7F04-917A-45E3-ACA4-5129A71ED8BA}"/>
              </a:ext>
            </a:extLst>
          </p:cNvPr>
          <p:cNvSpPr>
            <a:spLocks xmlns:a="http://schemas.openxmlformats.org/drawingml/2006/main" noGrp="1"/>
          </p:cNvSpPr>
          <p:nvPr/>
        </p:nvSpPr>
        <p:spPr>
          <a:xfrm xmlns:a="http://schemas.openxmlformats.org/drawingml/2006/main">
            <a:off x="400050" y="4686300"/>
            <a:ext cx="4000500" cy="3048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725" b="1">
                <a:solidFill>
                  <a:srgbClr val="0969DA"/>
                </a:solidFill>
                <a:latin typeface="Arial"/>
                <a:ea typeface="Arial"/>
                <a:cs typeface="Arial"/>
              </a:defRPr>
            </a:pPr>
            <a:r>
              <a:t>What the audience should retain</a:t>
            </a:r>
          </a:p>
        </p:txBody>
      </p:sp>
      <p:sp>
        <p:nvSpPr>
          <p:cNvPr id="17" name="">
            <a:extLst xmlns:a="http://schemas.openxmlformats.org/drawingml/2006/main">
              <a:ext uri="{FF2B5EF4-FFF2-40B4-BE49-F238E27FC236}">
                <a16:creationId xmlns:a16="http://schemas.microsoft.com/office/drawing/2014/main" id="{36C1C094-EE15-49FE-8791-133F62E343F1}"/>
              </a:ext>
            </a:extLst>
          </p:cNvPr>
          <p:cNvSpPr>
            <a:spLocks xmlns:a="http://schemas.openxmlformats.org/drawingml/2006/main" noGrp="1"/>
          </p:cNvSpPr>
          <p:nvPr/>
        </p:nvSpPr>
        <p:spPr>
          <a:xfrm xmlns:a="http://schemas.openxmlformats.org/drawingml/2006/main">
            <a:off x="400050" y="5105400"/>
            <a:ext cx="7239000" cy="914400"/>
          </a:xfrm>
          <a:prstGeom xmlns:a="http://schemas.openxmlformats.org/drawingml/2006/main" prst="rect">
            <a:avLst/>
          </a:prstGeom>
        </p:spPr>
        <p:txBody>
          <a:bodyPr xmlns:a="http://schemas.openxmlformats.org/drawingml/2006/main" spcFirstLastPara="1" lIns="0" tIns="0" rIns="0" bIns="0" anchor="t">
            <a:normAutofit fontScale="98765"/>
          </a:bodyPr>
          <a:lstStyle xmlns:a="http://schemas.openxmlformats.org/drawingml/2006/main"/>
          <a:p xmlns:a="http://schemas.openxmlformats.org/drawingml/2006/main">
            <a:pPr algn="l">
              <a:defRPr sz="2025" b="1">
                <a:solidFill>
                  <a:srgbClr val="111111"/>
                </a:solidFill>
                <a:latin typeface="Arial"/>
                <a:ea typeface="Arial"/>
                <a:cs typeface="Arial"/>
              </a:defRPr>
            </a:pPr>
            <a:r>
              <a:t>The agent selects a bounded workflow, calls MCP tools with visible arguments, validates exact evidence, and returns a safe answer or draft.</a:t>
            </a:r>
          </a:p>
        </p:txBody>
      </p:sp>
      <p:sp>
        <p:nvSpPr>
          <p:cNvPr id="18" name="">
            <a:extLst xmlns:a="http://schemas.openxmlformats.org/drawingml/2006/main">
              <a:ext uri="{FF2B5EF4-FFF2-40B4-BE49-F238E27FC236}">
                <a16:creationId xmlns:a16="http://schemas.microsoft.com/office/drawing/2014/main" id="{54CE34F8-409A-4964-9863-8B9819F5A400}"/>
              </a:ext>
            </a:extLst>
          </p:cNvPr>
          <p:cNvSpPr>
            <a:spLocks xmlns:a="http://schemas.openxmlformats.org/drawingml/2006/main" noGrp="1"/>
          </p:cNvSpPr>
          <p:nvPr/>
        </p:nvSpPr>
        <p:spPr>
          <a:xfrm xmlns:a="http://schemas.openxmlformats.org/drawingml/2006/main">
            <a:off x="8334375" y="4743450"/>
            <a:ext cx="1143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555555"/>
                </a:solidFill>
                <a:latin typeface="Arial"/>
                <a:ea typeface="Arial"/>
                <a:cs typeface="Arial"/>
              </a:defRPr>
            </a:pPr>
            <a:r>
              <a:t>Live app</a:t>
            </a:r>
          </a:p>
        </p:txBody>
      </p:sp>
      <p:sp>
        <p:nvSpPr>
          <p:cNvPr id="19" name="">
            <a:extLst xmlns:a="http://schemas.openxmlformats.org/drawingml/2006/main">
              <a:ext uri="{FF2B5EF4-FFF2-40B4-BE49-F238E27FC236}">
                <a16:creationId xmlns:a16="http://schemas.microsoft.com/office/drawing/2014/main" id="{65F85206-2017-47DD-B273-30888F07807D}"/>
              </a:ext>
            </a:extLst>
          </p:cNvPr>
          <p:cNvSpPr>
            <a:spLocks xmlns:a="http://schemas.openxmlformats.org/drawingml/2006/main" noGrp="1"/>
          </p:cNvSpPr>
          <p:nvPr/>
        </p:nvSpPr>
        <p:spPr>
          <a:xfrm xmlns:a="http://schemas.openxmlformats.org/drawingml/2006/main">
            <a:off x="8334375" y="5029200"/>
            <a:ext cx="31432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0969DA"/>
                </a:solidFill>
                <a:latin typeface="Arial"/>
                <a:ea typeface="Arial"/>
                <a:cs typeface="Arial"/>
              </a:defRPr>
            </a:pPr>
            <a:r>
              <a:t>peopleops-assistant-demo.onrender.com</a:t>
            </a:r>
          </a:p>
        </p:txBody>
      </p:sp>
      <p:sp>
        <p:nvSpPr>
          <p:cNvPr id="20" name="">
            <a:extLst xmlns:a="http://schemas.openxmlformats.org/drawingml/2006/main">
              <a:ext uri="{FF2B5EF4-FFF2-40B4-BE49-F238E27FC236}">
                <a16:creationId xmlns:a16="http://schemas.microsoft.com/office/drawing/2014/main" id="{FA873F86-1346-43A3-9509-CF0F564CC8E2}"/>
              </a:ext>
            </a:extLst>
          </p:cNvPr>
          <p:cNvSpPr>
            <a:spLocks xmlns:a="http://schemas.openxmlformats.org/drawingml/2006/main" noGrp="1"/>
          </p:cNvSpPr>
          <p:nvPr/>
        </p:nvSpPr>
        <p:spPr>
          <a:xfrm xmlns:a="http://schemas.openxmlformats.org/drawingml/2006/main">
            <a:off x="8334375" y="5457825"/>
            <a:ext cx="1143000" cy="2286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00" b="1">
                <a:solidFill>
                  <a:srgbClr val="555555"/>
                </a:solidFill>
                <a:latin typeface="Arial"/>
                <a:ea typeface="Arial"/>
                <a:cs typeface="Arial"/>
              </a:defRPr>
            </a:pPr>
            <a:r>
              <a:t>Release</a:t>
            </a:r>
          </a:p>
        </p:txBody>
      </p:sp>
      <p:sp>
        <p:nvSpPr>
          <p:cNvPr id="21" name="">
            <a:extLst xmlns:a="http://schemas.openxmlformats.org/drawingml/2006/main">
              <a:ext uri="{FF2B5EF4-FFF2-40B4-BE49-F238E27FC236}">
                <a16:creationId xmlns:a16="http://schemas.microsoft.com/office/drawing/2014/main" id="{5A84676D-A726-4884-9174-3DBA050D8C39}"/>
              </a:ext>
            </a:extLst>
          </p:cNvPr>
          <p:cNvSpPr>
            <a:spLocks xmlns:a="http://schemas.openxmlformats.org/drawingml/2006/main" noGrp="1"/>
          </p:cNvSpPr>
          <p:nvPr/>
        </p:nvSpPr>
        <p:spPr>
          <a:xfrm xmlns:a="http://schemas.openxmlformats.org/drawingml/2006/main">
            <a:off x="8334375" y="5743575"/>
            <a:ext cx="3143250" cy="2667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l">
              <a:defRPr sz="1275" b="0">
                <a:solidFill>
                  <a:srgbClr val="111111"/>
                </a:solidFill>
                <a:latin typeface="Arial"/>
                <a:ea typeface="Arial"/>
                <a:cs typeface="Arial"/>
              </a:defRPr>
            </a:pPr>
            <a:r>
              <a:t>ac6bed0 · synthetic demo</a:t>
            </a:r>
          </a:p>
        </p:txBody>
      </p:sp>
      <p:sp>
        <p:nvSpPr>
          <p:cNvPr id="22" name="">
            <a:extLst xmlns:a="http://schemas.openxmlformats.org/drawingml/2006/main">
              <a:ext uri="{FF2B5EF4-FFF2-40B4-BE49-F238E27FC236}">
                <a16:creationId xmlns:a16="http://schemas.microsoft.com/office/drawing/2014/main" id="{AEB4B97A-F4B0-4058-B211-50DE335F37A9}"/>
              </a:ext>
            </a:extLst>
          </p:cNvPr>
          <p:cNvSpPr>
            <a:spLocks xmlns:a="http://schemas.openxmlformats.org/drawingml/2006/main" noGrp="1"/>
          </p:cNvSpPr>
          <p:nvPr/>
        </p:nvSpPr>
        <p:spPr>
          <a:xfrm xmlns:a="http://schemas.openxmlformats.org/drawingml/2006/main">
            <a:off x="11287125" y="6419850"/>
            <a:ext cx="504825" cy="190500"/>
          </a:xfrm>
          <a:prstGeom xmlns:a="http://schemas.openxmlformats.org/drawingml/2006/main" prst="rect">
            <a:avLst/>
          </a:prstGeom>
        </p:spPr>
        <p:txBody>
          <a:bodyPr xmlns:a="http://schemas.openxmlformats.org/drawingml/2006/main" spcFirstLastPara="1" lIns="0" tIns="0" rIns="0" bIns="0" anchor="t">
            <a:normAutofit fontScale="100000"/>
          </a:bodyPr>
          <a:lstStyle xmlns:a="http://schemas.openxmlformats.org/drawingml/2006/main"/>
          <a:p xmlns:a="http://schemas.openxmlformats.org/drawingml/2006/main">
            <a:pPr algn="r">
              <a:defRPr sz="1050" b="0">
                <a:solidFill>
                  <a:srgbClr val="555555"/>
                </a:solidFill>
                <a:latin typeface="Arial"/>
                <a:ea typeface="Arial"/>
                <a:cs typeface="Arial"/>
              </a:defRPr>
            </a:pPr>
            <a:r>
              <a:t>11</a:t>
            </a:r>
          </a:p>
        </p:txBody>
      </p:sp>
    </p:spTree>
    <p:extLst>
      <p:ext uri="{BB962C8B-B14F-4D97-AF65-F5344CB8AC3E}">
        <p14:creationId xmlns:p14="http://schemas.microsoft.com/office/powerpoint/2010/main" val="605354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2026-08-14T04:25:00.1610000Z</dcterms:created>
  <dcterms:modified xsi:type="dcterms:W3CDTF">2026-08-14T04:25:00.1610000Z</dcterms:modified>
</coreProperties>
</file>